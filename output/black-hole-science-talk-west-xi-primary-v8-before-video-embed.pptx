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5737543dc24a13" /><Relationship Type="http://schemas.openxmlformats.org/officeDocument/2006/relationships/extended-properties" Target="/docProps/app.xml" Id="Rde7ef333f5f2448f" /><Relationship Type="http://schemas.openxmlformats.org/officeDocument/2006/relationships/officeDocument" Target="/ppt/presentation.xml" Id="R11f95de1e8df4e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91aa826e244153"/>
  </p:sldMasterIdLst>
  <p:notesMasterIdLst>
    <p:notesMasterId xmlns:r="http://schemas.openxmlformats.org/officeDocument/2006/relationships" r:id="R5be5190dcd5d4aec"/>
  </p:notesMasterIdLst>
  <p:sldIdLst>
    <p:sldId xmlns:r="http://schemas.openxmlformats.org/officeDocument/2006/relationships" id="256" r:id="R5b3e300369734e10"/>
    <p:sldId xmlns:r="http://schemas.openxmlformats.org/officeDocument/2006/relationships" id="257" r:id="R40ffd0431bbb45a4"/>
    <p:sldId xmlns:r="http://schemas.openxmlformats.org/officeDocument/2006/relationships" id="258" r:id="R10aea52df1074cc2"/>
    <p:sldId xmlns:r="http://schemas.openxmlformats.org/officeDocument/2006/relationships" id="259" r:id="Rf3a955207ce84bfc"/>
    <p:sldId xmlns:r="http://schemas.openxmlformats.org/officeDocument/2006/relationships" id="260" r:id="R8ed83ea0a3a148e6"/>
    <p:sldId xmlns:r="http://schemas.openxmlformats.org/officeDocument/2006/relationships" id="261" r:id="Rb26fc31209a54000"/>
    <p:sldId xmlns:r="http://schemas.openxmlformats.org/officeDocument/2006/relationships" id="262" r:id="Rf264ed289f2f4b89"/>
    <p:sldId xmlns:r="http://schemas.openxmlformats.org/officeDocument/2006/relationships" id="263" r:id="R109fcbbabf084d99"/>
    <p:sldId xmlns:r="http://schemas.openxmlformats.org/officeDocument/2006/relationships" id="264" r:id="Ra2c93a7e1b6d40c3"/>
    <p:sldId xmlns:r="http://schemas.openxmlformats.org/officeDocument/2006/relationships" id="265" r:id="R68595b5ccb44432a"/>
    <p:sldId xmlns:r="http://schemas.openxmlformats.org/officeDocument/2006/relationships" id="266" r:id="R8a9157a1abe349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f7094c4d174712" /><Relationship Type="http://schemas.openxmlformats.org/officeDocument/2006/relationships/slideMaster" Target="/ppt/slideMasters/slideMaster1.xml" Id="Rcd91aa826e244153" /><Relationship Type="http://schemas.openxmlformats.org/officeDocument/2006/relationships/notesMaster" Target="/ppt/notesMasters/notesMaster1.xml" Id="R5be5190dcd5d4aec" /><Relationship Type="http://schemas.openxmlformats.org/officeDocument/2006/relationships/presProps" Target="/ppt/presProps.xml" Id="Ra504cfcb9c30497e" /><Relationship Type="http://schemas.openxmlformats.org/officeDocument/2006/relationships/tableStyles" Target="/ppt/tableStyles.xml" Id="Raa1ed050e1c747b4" /><Relationship Type="http://schemas.openxmlformats.org/officeDocument/2006/relationships/slide" Target="/ppt/slides/slide1.xml" Id="R5b3e300369734e10" /><Relationship Type="http://schemas.openxmlformats.org/officeDocument/2006/relationships/slide" Target="/ppt/slides/slide2.xml" Id="R40ffd0431bbb45a4" /><Relationship Type="http://schemas.openxmlformats.org/officeDocument/2006/relationships/slide" Target="/ppt/slides/slide3.xml" Id="R10aea52df1074cc2" /><Relationship Type="http://schemas.openxmlformats.org/officeDocument/2006/relationships/slide" Target="/ppt/slides/slide4.xml" Id="Rf3a955207ce84bfc" /><Relationship Type="http://schemas.openxmlformats.org/officeDocument/2006/relationships/slide" Target="/ppt/slides/slide5.xml" Id="R8ed83ea0a3a148e6" /><Relationship Type="http://schemas.openxmlformats.org/officeDocument/2006/relationships/slide" Target="/ppt/slides/slide6.xml" Id="Rb26fc31209a54000" /><Relationship Type="http://schemas.openxmlformats.org/officeDocument/2006/relationships/slide" Target="/ppt/slides/slide7.xml" Id="Rf264ed289f2f4b89" /><Relationship Type="http://schemas.openxmlformats.org/officeDocument/2006/relationships/slide" Target="/ppt/slides/slide8.xml" Id="R109fcbbabf084d99" /><Relationship Type="http://schemas.openxmlformats.org/officeDocument/2006/relationships/slide" Target="/ppt/slides/slide9.xml" Id="Ra2c93a7e1b6d40c3" /><Relationship Type="http://schemas.openxmlformats.org/officeDocument/2006/relationships/slide" Target="/ppt/slides/slide10.xml" Id="R68595b5ccb44432a" /><Relationship Type="http://schemas.openxmlformats.org/officeDocument/2006/relationships/slide" Target="/ppt/slides/slide11.xml" Id="R8a9157a1abe349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f595262bf54c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1356f4d6cb40ba" /><Relationship Type="http://schemas.openxmlformats.org/officeDocument/2006/relationships/notesMaster" Target="/ppt/notesMasters/notesMaster1.xml" Id="R246bcfce13fd4c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143f4bc1ae4a00" /><Relationship Type="http://schemas.openxmlformats.org/officeDocument/2006/relationships/notesMaster" Target="/ppt/notesMasters/notesMaster1.xml" Id="Rf83bf26713a04e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f0be6427d044de" /><Relationship Type="http://schemas.openxmlformats.org/officeDocument/2006/relationships/notesMaster" Target="/ppt/notesMasters/notesMaster1.xml" Id="Rd0c211825e6e42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0ed157ee444bd5" /><Relationship Type="http://schemas.openxmlformats.org/officeDocument/2006/relationships/notesMaster" Target="/ppt/notesMasters/notesMaster1.xml" Id="Re67a1c807ec94c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147f2064f54802" /><Relationship Type="http://schemas.openxmlformats.org/officeDocument/2006/relationships/notesMaster" Target="/ppt/notesMasters/notesMaster1.xml" Id="Rf7642331add04d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b413efdd574f75" /><Relationship Type="http://schemas.openxmlformats.org/officeDocument/2006/relationships/notesMaster" Target="/ppt/notesMasters/notesMaster1.xml" Id="R8bf86a9d31734d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b56de5f12c427e" /><Relationship Type="http://schemas.openxmlformats.org/officeDocument/2006/relationships/notesMaster" Target="/ppt/notesMasters/notesMaster1.xml" Id="R5768e08b4bb141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562090ba624d1d" /><Relationship Type="http://schemas.openxmlformats.org/officeDocument/2006/relationships/notesMaster" Target="/ppt/notesMasters/notesMaster1.xml" Id="Rf6bf9e1de0dc4e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2d2b47b65140b5" /><Relationship Type="http://schemas.openxmlformats.org/officeDocument/2006/relationships/notesMaster" Target="/ppt/notesMasters/notesMaster1.xml" Id="R64a98f228e8445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fc4d60d3764c7c" /><Relationship Type="http://schemas.openxmlformats.org/officeDocument/2006/relationships/notesMaster" Target="/ppt/notesMasters/notesMaster1.xml" Id="R0e9f001d338e4a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fb11fd9bf745e5" /><Relationship Type="http://schemas.openxmlformats.org/officeDocument/2006/relationships/notesMaster" Target="/ppt/notesMasters/notesMaster1.xml" Id="Rfe06433121f041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大家好！今天我想带大家认识宇宙里最神秘的天体之一：黑洞。它看起来像一个黑色的洞，可它其实不是普通的洞。接下来五分钟，我们一起看看黑洞是什么、它从哪里来，还有科学家怎样找到它。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图片：AI 生成科普插图。科学参考：NASA Science, Black Holes。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黑洞的特点是引力特别强。大家可以想象，把很重的东西压到很小很小的地方，周围的拉力就会变得很强。强到一定程度，连光也难以离开，所以我们看不见黑洞本身。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Science, What Is a Black Hole? https://science.nasa.gov/universe/black-holes/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有些非常大的恒星到了生命后期，会发生一次很猛烈的爆炸，叫超新星爆发。爆炸以后，如果恒星中心留下的核心还很重，它会继续向内塌缩，最后可能形成黑洞。普通的小恒星不会变成黑洞。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Space Place, What Is a Black Hole? https://spaceplace.nasa.gov/black-holes/en/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黑洞并不总是完全黑漆漆的。黑洞附近的气体和尘埃会绕着它高速旋转，形成明亮的吸积盘。黑洞周围还有一条看不见的边界，叫事件视界。东西一旦越过它，就没有办法回来了。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Science, Black Holes；ESA, Black holes。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参考视频：/Users/mnhkahn/Downloads/share_64971550236270bcb43d6c3296c01f001789813044862.mp4。</a:t>
            </a:r>
          </a:p>
          <a:p xmlns:a="http://schemas.openxmlformats.org/drawingml/2006/main">
            <a:r>
              <a:t>中文配音版本：/Users/mnhkahn/code/cPrint/output/吸积盘引力透镜演示-中文配音.mp4。</a:t>
            </a:r>
          </a:p>
          <a:p xmlns:a="http://schemas.openxmlformats.org/drawingml/2006/main">
            <a:r>
              <a:t>说明：示意图使用‘实像/虚像’帮助小学生理解直接可见的圆盘近侧，以及由引力透镜弯曲而来的远侧圆盘影像。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有人会问：黑洞会不会把整个宇宙都吸进去？答案是不会。黑洞的引力不会伸出一只手把很远的东西抓来。离得远时，物体可以像绕着太阳那样，绕着黑洞运行。只有靠得非常近，才会被强大的引力影响。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这一组连续三页是动态演示。请边点击边讲：第 1 步：离得远。小行星可以稳定地绕着黑洞运行。要提醒同学们，这只是帮助理解的示意图，真实的黑洞和轨道比图上复杂得多。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这一组连续三页是动态演示。请边点击边讲：第 2 步：越来越近。引力变强，小行星的轨道开始改变。要提醒同学们，这只是帮助理解的示意图，真实的黑洞和轨道比图上复杂得多。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这一组连续三页是动态演示。请边点击边讲：第 3 步：太靠近了。越过事件视界后，小行星无法返回。要提醒同学们，这只是帮助理解的示意图，真实的黑洞和轨道比图上复杂得多。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黑洞本身看不见，科学家却能看见它对周围的影响。比如，一颗星星好像在绕着看不见的伙伴转。又比如，黑洞旁边的热气体会发出很强的 X 射线。最近，科学家还可以探测两个黑洞合并时产生的引力波。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Science, How do we detect black holes?；LIGO, What are gravitational waves?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我们认识了黑洞：它是引力特别强的天体，有些来自大恒星的末期。虽然我们看不见黑洞本身，但科学家可以从周围星星、明亮的热气体和时空震动中发现它。宇宙里还有很多秘密，希望有一天我们也能参与发现。谢谢大家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综合参考：NASA Science, Black Holes；NASA Space Place, What Is a Black Hole? https://spaceplace.nasa.gov/black-holes/en/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9e4c26adb42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2448197bcc494b" /><Relationship Type="http://schemas.openxmlformats.org/officeDocument/2006/relationships/slideLayout" Target="/ppt/slideLayouts/slideLayout1.xml" Id="Ra7dd2d72072646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dd2d72072646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1a977e5334155" /><Relationship Type="http://schemas.openxmlformats.org/officeDocument/2006/relationships/image" Target="/ppt/media/image.png" Id="R2c4cc8135a944943" /><Relationship Type="http://schemas.openxmlformats.org/officeDocument/2006/relationships/notesSlide" Target="/ppt/notesSlides/notesSlide1.xml" Id="R1b9b7fe200f04f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7e3ad37a246da" /><Relationship Type="http://schemas.openxmlformats.org/officeDocument/2006/relationships/notesSlide" Target="/ppt/notesSlides/notesSlide2.xml" Id="R44614018fa0347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2a6bfc0f24ef9" /><Relationship Type="http://schemas.openxmlformats.org/officeDocument/2006/relationships/notesSlide" Target="/ppt/notesSlides/notesSlide3.xml" Id="R485bc1807b2f42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25f06aaec4756" /><Relationship Type="http://schemas.openxmlformats.org/officeDocument/2006/relationships/notesSlide" Target="/ppt/notesSlides/notesSlide4.xml" Id="Rc74db8cb30ee4b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258d0a4684742" /><Relationship Type="http://schemas.openxmlformats.org/officeDocument/2006/relationships/image" Target="/ppt/media/image.jpeg" Id="Re2169c3f0c574b08" /><Relationship Type="http://schemas.openxmlformats.org/officeDocument/2006/relationships/notesSlide" Target="/ppt/notesSlides/notesSlide5.xml" Id="R8f5c0e4e8ff640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c0ba4df4e4c17" /><Relationship Type="http://schemas.openxmlformats.org/officeDocument/2006/relationships/notesSlide" Target="/ppt/notesSlides/notesSlide6.xml" Id="R34349b7af2e247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f4f9a252f464e" /><Relationship Type="http://schemas.openxmlformats.org/officeDocument/2006/relationships/notesSlide" Target="/ppt/notesSlides/notesSlide7.xml" Id="Rbf69cf3a35474c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9e54d81a54e8c" /><Relationship Type="http://schemas.openxmlformats.org/officeDocument/2006/relationships/notesSlide" Target="/ppt/notesSlides/notesSlide8.xml" Id="R24bde06556384a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1392eb9804057" /><Relationship Type="http://schemas.openxmlformats.org/officeDocument/2006/relationships/notesSlide" Target="/ppt/notesSlides/notesSlide9.xml" Id="R19e7383bea704a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97b1d025649df" /><Relationship Type="http://schemas.openxmlformats.org/officeDocument/2006/relationships/notesSlide" Target="/ppt/notesSlides/notesSlide10.xml" Id="R9b84968b6f4b40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394f30f7f4a8e" /><Relationship Type="http://schemas.openxmlformats.org/officeDocument/2006/relationships/notesSlide" Target="/ppt/notesSlides/notesSlide11.xml" Id="R67091e8bb46c4e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cc8135a94494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20776-354C-412D-BDCE-CD8FAC28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7152F">
              <a:alpha val="8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7376C-44AE-4417-ACA3-1194343D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小小宇宙探索家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FE19C-70F7-4CCC-947A-FD3DDC5E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</a:t>
            </a:r>
          </a:p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到底是什么？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A715-1E61-4793-A7A6-6CA22C22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西颐小学  ·  科学演讲  ·  约 5 分钟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2462D-6DF3-420C-BE3B-4E6D7476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0D9F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0D9F3"/>
                </a:solidFill>
                <a:latin typeface="PingFang SC"/>
                <a:ea typeface="PingFang SC"/>
                <a:cs typeface="PingFang SC"/>
              </a:rPr>
              <a:t>分享人：____________</a:t>
            </a:r>
          </a:p>
        </p:txBody>
      </p:sp>
    </p:spTree>
    <p:extLst>
      <p:ext uri="{BB962C8B-B14F-4D97-AF65-F5344CB8AC3E}">
        <p14:creationId xmlns:p14="http://schemas.microsoft.com/office/powerpoint/2010/main" val="18864997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D2874-7B44-431B-9772-D034091F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01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D9B55-F69C-4C73-B68B-8AA91041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黑洞：一个引力特别强的地方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A268D-254A-4AC1-B373-366906F9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F7CE2-8C83-4A60-B423-E3852CFC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9BED6-2657-41DF-BA10-4A71F29A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098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C1808-FCBE-451A-8F01-BE016F8A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6477000" y="2095500"/>
            <a:ext cx="4572000" cy="2286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C85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8583F-6DE4-4C28-95F6-73451F75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6667500" y="2286000"/>
            <a:ext cx="4191000" cy="1905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2D6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45754-5125-487D-93BA-E8E6CF23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101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强到连光都很难逃走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750CB-7911-4DD2-BCDE-C5043F44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黑洞不是“吸尘器”，而是质量挤在很小空间里，形成极强引力的天体。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B41AF-40AD-4AD2-8B87-D2F28D06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4762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AD333-BAE4-4AEB-BD63-16255BD8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“引力”就是把物体拉向彼此的力量。地球的引力让我们不会飘到太空中。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0A3E8-F840-4438-9AA5-7D1B17C9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关键词：引力</a:t>
            </a:r>
          </a:p>
        </p:txBody>
      </p:sp>
    </p:spTree>
    <p:extLst>
      <p:ext uri="{BB962C8B-B14F-4D97-AF65-F5344CB8AC3E}">
        <p14:creationId xmlns:p14="http://schemas.microsoft.com/office/powerpoint/2010/main" val="617079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2C8970-2799-4465-A19C-B28B43DB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02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D569B-41E2-4A8A-BBD8-349798A7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有些黑洞来自大恒星的“谢幕”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80BD1-2D41-40C2-953F-C502516E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9FC66-E645-4BEC-ABF1-977CD917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86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17CF3-D39A-485D-A2BF-3F0A5E69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大恒星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39A3A-609B-4D2F-A40A-CA7380AB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燃料慢慢用完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48D06-534A-4B32-A9D3-865EBD98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57500"/>
            <a:ext cx="9525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06728-E75C-47C8-A322-D3032FCF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84AC7-EE45-40C7-B254-C5C1DC64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D8BF7-83F4-4F58-94BF-DCC6AD5B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526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4D66B-48D0-4418-97CC-529324CD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9526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27A22-7B44-45D2-B19D-2905F5DA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0151F-9CFB-497D-8000-AE47642B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76C19-4C2A-46FF-83A0-FFB25303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7187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313DF-3C76-4EF2-87FB-16848F97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7187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30E0A-1DE3-4F8F-A9DA-789F648B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7187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70AC8-9597-4473-9286-20E744FB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超新星爆发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79FE0-2E91-4F51-B498-5046D93D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291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发生巨大的爆炸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09B11-3701-4AAD-8BEC-BC794095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9525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8C0127-D77C-47A8-AA3A-9BBB872B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1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74D914-8FCE-4FCD-A8EB-57CFBBFE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00BF56-C5FA-4882-908F-8A58D28C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15347B-7FBD-4C13-BEBA-583FBF0F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291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核心继续塌缩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9CE867-96CF-43C4-A3B0-EBD311D3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04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F3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6C6F4D-DADC-4187-84B2-324A5AB8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975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不是每一颗恒星都会变成黑洞，通常需要“很大很重”的恒星。</a:t>
            </a:r>
          </a:p>
        </p:txBody>
      </p:sp>
    </p:spTree>
    <p:extLst>
      <p:ext uri="{BB962C8B-B14F-4D97-AF65-F5344CB8AC3E}">
        <p14:creationId xmlns:p14="http://schemas.microsoft.com/office/powerpoint/2010/main" val="11731766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069F1-B08B-4405-BE90-E928D18C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03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2584A-571A-481E-A7D2-1C729A8C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黑洞周围有什么？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EB480-2A4B-457B-BAB1-AC0BEFCE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1A698-E60C-400C-8B88-5F764920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240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7B416-DE88-4944-909B-EF41903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573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越过这条边界，连光也无法回来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5B268-A92B-4655-B441-C0F16B9F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56333-E73C-4E80-8D3E-915E683C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4762500" y="2714625"/>
            <a:ext cx="552450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FFC85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0960D-7440-4435-916A-F34DAAAE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0000">
            <a:off x="5095875" y="3000375"/>
            <a:ext cx="4857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FF8A6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2250F-6777-4E7B-B6A9-8B47B36F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6384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吸积盘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E9105-FEC9-4A97-BEE3-B8BBF5C6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6705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41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气体和尘埃绕着黑洞转动，互相摩擦，会变得很热、很亮。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5173C-5FF7-4D1F-8493-DC53494A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23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52C5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E181D-BD5D-4810-AAB0-CEF7E97A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事件视界像一条“返回线”。进入后，任何东西都不能回到外面。</a:t>
            </a:r>
          </a:p>
        </p:txBody>
      </p:sp>
    </p:spTree>
    <p:extLst>
      <p:ext uri="{BB962C8B-B14F-4D97-AF65-F5344CB8AC3E}">
        <p14:creationId xmlns:p14="http://schemas.microsoft.com/office/powerpoint/2010/main" val="3645529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F10DD-C905-49D7-8F8E-6B7BE246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3C6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3C6FF"/>
                </a:solidFill>
                <a:latin typeface="PingFang SC"/>
                <a:ea typeface="PingFang SC"/>
                <a:cs typeface="PingFang SC"/>
              </a:rPr>
              <a:t>04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B3B59-04AB-4035-BF1E-E10163DA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吸积盘为什么看起来像一圈光环？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03A39-02DF-4ECB-9341-78BC8BDF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64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BB4B0-5887-4BEB-87AC-4284778E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C64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C64B"/>
                </a:solidFill>
                <a:latin typeface="PingFang SC"/>
                <a:ea typeface="PingFang SC"/>
                <a:cs typeface="PingFang SC"/>
              </a:rPr>
              <a:t>它本来是一个扁平的圆盘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CEBDF-DF0A-4B92-85A3-CA9732A5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8E6F5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D8E6F5"/>
                </a:solidFill>
                <a:latin typeface="PingFang SC"/>
                <a:ea typeface="PingFang SC"/>
                <a:cs typeface="PingFang SC"/>
              </a:rPr>
              <a:t>热气体和尘埃绕着黑洞旋转，形成明亮的吸积盘。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E89E0-A718-442B-B28A-4C2229A2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43250"/>
            <a:ext cx="400050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38100">
            <a:solidFill>
              <a:srgbClr val="FFD16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D4B47-7C5C-4090-BA1B-57CF8240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3143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3D"/>
          </a:solidFill>
          <a:ln xmlns:a="http://schemas.openxmlformats.org/drawingml/2006/main" w="19050">
            <a:solidFill>
              <a:srgbClr val="FFC6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90AD1-8376-4439-AD9A-EB09E5B2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81300"/>
            <a:ext cx="1771650" cy="1771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040B"/>
          </a:solidFill>
          <a:ln xmlns:a="http://schemas.openxmlformats.org/drawingml/2006/main" w="28575">
            <a:solidFill>
              <a:srgbClr val="90A4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60905-7745-47E5-8384-E5488F5F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38475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4F87A-BB15-475F-B926-A3F96676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5528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2B63E-31D2-4F10-B1D1-CD322A9A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05050"/>
            <a:ext cx="28194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0"/>
          </a:solidFill>
          <a:ln xmlns:a="http://schemas.openxmlformats.org/drawingml/2006/main" w="28575">
            <a:solidFill>
              <a:srgbClr val="FFC64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0DEF6-0C62-4F31-B409-6D720551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438400"/>
            <a:ext cx="2247900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93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F8BD3-5ECB-4537-8794-887A70DA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19600"/>
            <a:ext cx="28194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E8FF"/>
          </a:solidFill>
          <a:ln xmlns:a="http://schemas.openxmlformats.org/drawingml/2006/main" w="28575">
            <a:solidFill>
              <a:srgbClr val="63C6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F560D-BDC0-4320-884B-96F1AA67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14850"/>
            <a:ext cx="2247900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93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108E7-0AA6-4A2D-837E-209FE55B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238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C64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C64B"/>
                </a:solidFill>
                <a:latin typeface="PingFang SC"/>
                <a:ea typeface="PingFang SC"/>
                <a:cs typeface="PingFang SC"/>
              </a:rPr>
              <a:t>实像：直接看到的圆盘近侧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F66AD-50C2-4BD8-B25A-60579A48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76900"/>
            <a:ext cx="604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B7E8FF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B7E8FF"/>
                </a:solidFill>
                <a:latin typeface="PingFang SC"/>
                <a:ea typeface="PingFang SC"/>
                <a:cs typeface="PingFang SC"/>
              </a:rPr>
              <a:t>虚像：远侧圆盘的光被黑洞弯到上方和下方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69c3f0c574b08"/>
          <a:srcRect xmlns:a="http://schemas.openxmlformats.org/drawingml/2006/main" l="0" t="33115" r="0" b="331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3286125"/>
            <a:ext cx="3333750" cy="1952625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68BAA-07D1-4358-B83E-F8F16DCD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A8D9FF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A8D9FF"/>
                </a:solidFill>
                <a:latin typeface="PingFang SC"/>
                <a:ea typeface="PingFang SC"/>
                <a:cs typeface="PingFang SC"/>
              </a:rPr>
              <a:t>参考视频：纸板模型演示光线弯曲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179A7-AD3B-41EF-BB98-745F95CA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722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9FB6D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9FB6D2"/>
                </a:solidFill>
                <a:latin typeface="PingFang SC"/>
                <a:ea typeface="PingFang SC"/>
                <a:cs typeface="PingFang SC"/>
              </a:rPr>
              <a:t>中文配音视频：吸积盘引力透镜演示-中文配音.mp4（30 秒）</a:t>
            </a:r>
          </a:p>
        </p:txBody>
      </p:sp>
    </p:spTree>
    <p:extLst>
      <p:ext uri="{BB962C8B-B14F-4D97-AF65-F5344CB8AC3E}">
        <p14:creationId xmlns:p14="http://schemas.microsoft.com/office/powerpoint/2010/main" val="3315809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57F48-1DFB-4750-842B-0524F11A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05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42A5B-C6DF-453E-84DD-55DAF6DC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黑洞会把宇宙里的一切都吸走吗？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EF750-0DD5-4FF3-9697-DADB6F22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38B37-2EA9-4A79-80A7-64A34717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不会。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ABBB5-4518-4669-A424-09536006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离得很远时，黑洞的引力和同样质量的其他天体一样。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64767-84F8-4795-9AA0-A5B7CB4A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5143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A1A4D-301C-4E9F-9F6C-278B55D6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23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只有靠得非常近，黑洞的引力才会变得特别危险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C825D-FCF5-4E20-A1D7-62BA2290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241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2521D-DDCE-4F47-894C-19D9FE93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504825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0E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EA3EF-7382-4798-8467-F23AB4B9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143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D6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5EAD8-3024-4AC3-A741-E03F1A39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10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远处的小行星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83331-5322-4D60-8164-69CB44EF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625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它可以继续绕着黑洞运行</a:t>
            </a:r>
          </a:p>
        </p:txBody>
      </p:sp>
    </p:spTree>
    <p:extLst>
      <p:ext uri="{BB962C8B-B14F-4D97-AF65-F5344CB8AC3E}">
        <p14:creationId xmlns:p14="http://schemas.microsoft.com/office/powerpoint/2010/main" val="19572524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6B347-62D9-476C-863E-726B46A4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06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7E9D6-AFDF-4424-A01E-92124A81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引力演示：小行星靠近黑洞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EF368-FE61-476B-B7C5-9674E407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C3319-ADEA-4D59-8EBA-343021AD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第 1 步：离得远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6AD3D-8D25-42A5-B4A1-926698B6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小行星可以稳定地绕着黑洞运行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E834A-6CD4-483F-B546-3F64D3AC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AA0E5-DDD9-49C6-8E46-4F94B0F7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3238500" cy="3238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9FC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BFA17-FB7A-4942-AD8F-F70C7CE0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76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82BB8-2914-4CE7-9F6A-4C17BDFE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5238750" y="2857500"/>
            <a:ext cx="6000750" cy="2190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0E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0ED55-09C7-460E-87BE-E614C40D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76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D6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B0F12-50D5-4655-B6A9-C8D49BCC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148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小行星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D26A0-76EF-41CA-8E1A-5CF7C252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96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2C5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A38B2-670C-4FE5-A0CB-B4B637D9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演讲时连按三次翻页键，就能看到“靠近黑洞”的动态过程</a:t>
            </a:r>
          </a:p>
        </p:txBody>
      </p:sp>
    </p:spTree>
    <p:extLst>
      <p:ext uri="{BB962C8B-B14F-4D97-AF65-F5344CB8AC3E}">
        <p14:creationId xmlns:p14="http://schemas.microsoft.com/office/powerpoint/2010/main" val="12168517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D200C-0B0A-4806-B1FC-91BCEB5A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07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48561-090B-42F7-AB6E-7F2ED246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引力演示：小行星靠近黑洞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8A7AC-67C2-4AED-B93C-9C6E5050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2AA18-E4B8-4C36-9A3E-DC922D44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第 2 步：越来越近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52071-2474-4F07-BE44-830F412B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引力变强，小行星的轨道开始改变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62519-491C-4366-93AD-8B0AF0B0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62FB9-BF7A-4DFE-B584-FC2F6FD4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3238500" cy="3238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9FC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E7DBD-8CCF-4C60-9634-838F93B3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76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BAE53-9190-46FB-847A-1557C1B5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5238750" y="2857500"/>
            <a:ext cx="6000750" cy="2190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0E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61261-0DFE-4E6A-956C-F7C1B6BD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D6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C38A5-3B19-4929-B58D-51EC07AA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小行星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F2633-82EE-4B53-B8FA-312A85DF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571875"/>
            <a:ext cx="62865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E4F73-A1AC-4F80-9261-5F1E4BEE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96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2C5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23684-B0DF-46E2-9C47-C939C20A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演讲时连按三次翻页键，就能看到“靠近黑洞”的动态过程</a:t>
            </a:r>
          </a:p>
        </p:txBody>
      </p:sp>
    </p:spTree>
    <p:extLst>
      <p:ext uri="{BB962C8B-B14F-4D97-AF65-F5344CB8AC3E}">
        <p14:creationId xmlns:p14="http://schemas.microsoft.com/office/powerpoint/2010/main" val="13830944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C4080-BA17-46A5-B94A-33E7310D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08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3E771-D12B-426F-94F7-1CAEF05A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引力演示：小行星靠近黑洞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76168-063D-4BFA-84C6-7753E9EC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EC07C-DF20-40FE-A917-A48BDE2B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第 3 步：太靠近了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6104B-2317-416F-B0D6-FA1BA2A1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越过事件视界后，小行星无法返回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8B5AE-9D68-4047-9B7E-D9538041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1B8A6-1CFF-42CA-98AC-F678009F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3238500" cy="3238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9FC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566C3-21E8-4AE7-A329-7597E491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76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196B3-0F75-4F9D-9E7E-B8D44CA5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5238750" y="2857500"/>
            <a:ext cx="6000750" cy="2190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0E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2E3B6-3CC2-45E7-A950-6373E763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76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D6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DD0D5-BD1B-4D22-ADC0-5DA3AAD1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148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小行星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95164-055B-4FCE-9E24-F4ED45DE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62865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93252-0969-4097-A2E5-0114137B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96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2C5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14EA9-C066-4115-9D24-CD266219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演讲时连按三次翻页键，就能看到“靠近黑洞”的动态过程</a:t>
            </a:r>
          </a:p>
        </p:txBody>
      </p:sp>
    </p:spTree>
    <p:extLst>
      <p:ext uri="{BB962C8B-B14F-4D97-AF65-F5344CB8AC3E}">
        <p14:creationId xmlns:p14="http://schemas.microsoft.com/office/powerpoint/2010/main" val="7358539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F4EC8E-D4EF-4434-B418-A344C7A2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09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BD0FD-DD1A-4709-AAC2-66A9E9D7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看不见黑洞，科学家怎样找到它？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B2AA7-A189-4763-AF1C-EE61C146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6A243-2186-42F1-9CA9-68085B64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9526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92CDA-E494-4AB0-87AE-24BF9594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143125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A5B9A-E0DF-417C-9069-ED5F17A6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86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看周围的星星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3F8D4-0634-42C3-BF41-A9D113E0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1000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星星绕着一个看不见的东西转，说明那里可能有黑洞。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04B32-A375-4001-8A16-BF720251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9526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50D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3D473-234E-4D19-A442-4ECBA8ED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143125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04C65-377D-4BF0-BB5E-7AF7A7E7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86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看高能光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AEE8F-6F44-41FC-B163-2ABCFC72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81000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吸积盘特别热，会发出 X 射线等高能光。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1A59B-B081-4748-BBAD-B72AF860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526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3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85E63-DB23-4072-B7C4-9AE8E490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143125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3A0D3-6EE6-45FD-9735-F209BD41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86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听时空的震动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12656-9CAF-4177-9077-76F67E05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81000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两个黑洞合并时，会产生引力波。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1A081-5E7D-47BF-8F5F-5DEE422E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81625"/>
            <a:ext cx="962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4ACE3-86C9-4ECB-BC8E-524B0576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7687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科学家像侦探一样，通过黑洞留下的“线索”来发现它。</a:t>
            </a:r>
          </a:p>
        </p:txBody>
      </p:sp>
    </p:spTree>
    <p:extLst>
      <p:ext uri="{BB962C8B-B14F-4D97-AF65-F5344CB8AC3E}">
        <p14:creationId xmlns:p14="http://schemas.microsoft.com/office/powerpoint/2010/main" val="13696901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1EB78-93F6-4639-81B8-A5E9D467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A4347-EA06-47D5-9F9C-710B301A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9E833-9336-47F1-938C-43C0E128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43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DAD86-C517-4B68-939B-6B13A171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04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17C40-E5E3-4158-9738-1AF186A3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0C5CE-14C1-43FB-B60A-227E82E0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619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30FD3-C42F-4820-AD3D-FDC29EAF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BD452-3AEB-42C7-B2E1-2EEF07B1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239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今天我们知道了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D610C-24BC-4191-BBCC-374F8B41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44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黑洞是引力极强的天体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12968-0FE9-4BF9-8166-F3A56B20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955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44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有些来自大恒星的末期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89102-EB81-44AB-9D85-706085F2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3847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44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科学家能用线索发现它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14867-A4CB-473A-A641-B1A13602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43125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6EC98-D326-4654-8956-30E770C7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00000">
            <a:off x="7572375" y="2686050"/>
            <a:ext cx="419100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25">
            <a:solidFill>
              <a:srgbClr val="FFC85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1A7B8-BFDB-49AD-A5D6-677E203A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062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宇宙还有很多问题，等我们去发现！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06A62-07F0-47FE-B16F-D5719F74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53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1062541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2026-09-19T10:31:41.4110000Z</dcterms:created>
  <dcterms:modified xsi:type="dcterms:W3CDTF">2026-09-19T10:31:41.4110000Z</dcterms:modified>
</coreProperties>
</file>