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大家好！今天我想带大家认识宇宙里最神秘的天体之一：黑洞。它看起来像一个黑色的洞，可它其实不是普通的洞。接下来五分钟，我们一起看看黑洞是什么、它从哪里来，还有科学家怎样找到它。</a:t>
            </a:r>
          </a:p>
          <a:p>
            <a:endParaRPr/>
          </a:p>
          <a:p>
            <a:r>
              <a:t>图片：AI 生成科普插图。科学参考：NASA Science, Black Holes。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黑洞的特点是引力特别强。大家可以想象，把很重的东西压到很小很小的地方，周围的拉力就会变得很强。强到一定程度，连光也难以离开，所以我们看不见黑洞本身。</a:t>
            </a:r>
          </a:p>
          <a:p>
            <a:endParaRPr/>
          </a:p>
          <a:p>
            <a:r>
              <a:t>科学参考：NASA Science, What Is a Black Hole? https://science.nasa.gov/universe/black-holes/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有些非常大的恒星到了生命后期，会发生一次很猛烈的爆炸，叫超新星爆发。爆炸以后，如果恒星中心留下的核心还很重，它会继续向内塌缩，最后可能形成黑洞。普通的小恒星不会变成黑洞。</a:t>
            </a:r>
          </a:p>
          <a:p>
            <a:endParaRPr/>
          </a:p>
          <a:p>
            <a:r>
              <a:t>科学参考：NASA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黑洞并不总是完全黑漆漆的。黑洞附近的气体和尘埃会绕着它高速旋转，形成明亮的吸积盘。黑洞周围还有一条看不见的边界，叫事件视界。东西一旦越过它，就没有办法回来了。</a:t>
            </a:r>
          </a:p>
          <a:p>
            <a:endParaRPr/>
          </a:p>
          <a:p>
            <a:r>
              <a:t>科学参考：NASA Science, Black Holes；ESA, Black holes。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参考视频：/Users/mnhkahn/Downloads/share_64971550236270bcb43d6c3296c01f001789813044862.mp4。</a:t>
            </a:r>
          </a:p>
          <a:p>
            <a:r>
              <a:t>中文配音版本：/Users/mnhkahn/code/cPrint/output/吸积盘引力透镜演示-中文配音.mp4。</a:t>
            </a:r>
          </a:p>
          <a:p>
            <a:r>
              <a:t>说明：示意图使用‘实像/虚像’帮助小学生理解直接可见的圆盘近侧，以及由引力透镜弯曲而来的远侧圆盘影像。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有人会问：黑洞会不会把整个宇宙都吸进去？答案是不会。黑洞的引力不会伸出一只手把很远的东西抓来。离得远时，物体可以像绕着太阳那样，绕着黑洞运行。只有靠得非常近，才会被强大的引力影响。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这一组连续三页是动态演示。请边点击边讲：第 1 步：离得远。小行星可以稳定地绕着黑洞运行。要提醒同学们，这只是帮助理解的示意图，真实的黑洞和轨道比图上复杂得多。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这一组连续三页是动态演示。请边点击边讲：第 2 步：越来越近。引力变强，小行星的轨道开始改变。要提醒同学们，这只是帮助理解的示意图，真实的黑洞和轨道比图上复杂得多。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这一组连续三页是动态演示。请边点击边讲：第 3 步：太靠近了。越过事件视界后，小行星无法返回。要提醒同学们，这只是帮助理解的示意图，真实的黑洞和轨道比图上复杂得多。</a:t>
            </a:r>
          </a:p>
          <a:p>
            <a:endParaRPr/>
          </a:p>
          <a:p>
            <a:r>
              <a:t>科学参考：NASA Space Place, What Is a Black Hole?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黑洞本身看不见，科学家却能看见它对周围的影响。比如，一颗星星好像在绕着看不见的伙伴转。又比如，黑洞旁边的热气体会发出很强的 X 射线。最近，科学家还可以探测两个黑洞合并时产生的引力波。</a:t>
            </a:r>
          </a:p>
          <a:p>
            <a:endParaRPr/>
          </a:p>
          <a:p>
            <a:r>
              <a:t>科学参考：NASA Science, How do we detect black holes?；LIGO, What are gravitational waves?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我们认识了黑洞：它是引力特别强的天体，有些来自大恒星的末期。虽然我们看不见黑洞本身，但科学家可以从周围星星、明亮的热气体和时空震动中发现它。宇宙里还有很多秘密，希望有一天我们也能参与发现。谢谢大家！</a:t>
            </a:r>
          </a:p>
          <a:p>
            <a:endParaRPr/>
          </a:p>
          <a:p>
            <a:r>
              <a:t>综合参考：NASA Science, Black Holes；NASA Space Place, What Is a Black Hole? https://spaceplace.nasa.gov/black-holes/en/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E2C20776-354C-412D-BDCE-CD8FAC2884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oundRect">
            <a:avLst>
              <a:gd name="adj" fmla="val 0"/>
            </a:avLst>
          </a:prstGeom>
          <a:solidFill>
            <a:srgbClr val="07152F">
              <a:alpha val="80000"/>
            </a:srgbClr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37376C-44AE-4417-ACA3-1194343D1BB1}"/>
              </a:ext>
            </a:extLst>
          </p:cNvPr>
          <p:cNvSpPr>
            <a:spLocks noGrp="1"/>
          </p:cNvSpPr>
          <p:nvPr/>
        </p:nvSpPr>
        <p:spPr>
          <a:xfrm>
            <a:off x="742950" y="1333500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小小宇宙探索家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8FE19C-70F7-4CCC-947A-FD3DDC5E52E9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47625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</a:t>
            </a:r>
          </a:p>
          <a:p>
            <a:pPr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到底是什么？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5EA715-1E61-4793-A7A6-6CA22C227A0A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西颐小学  ·  科学演讲  ·  约 5 分钟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92462D-6DF3-420C-BE3B-4E6D74761B6A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350" b="0">
                <a:solidFill>
                  <a:srgbClr val="C0D9F3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0D9F3"/>
                </a:solidFill>
                <a:latin typeface="PingFang SC"/>
                <a:ea typeface="PingFang SC"/>
                <a:cs typeface="PingFang SC"/>
              </a:rPr>
              <a:t>分享人：____________</a:t>
            </a:r>
          </a:p>
        </p:txBody>
      </p:sp>
    </p:spTree>
    <p:extLst>
      <p:ext uri="{BB962C8B-B14F-4D97-AF65-F5344CB8AC3E}">
        <p14:creationId xmlns:p14="http://schemas.microsoft.com/office/powerpoint/2010/main" val="1886499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E9D2874-7B44-431B-9772-D034091F0A0E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01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6D9B55-F69C-4C73-B68B-8AA91041FC77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黑洞：一个引力特别强的地方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2DA268D-254A-4AC1-B373-366906F9B794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A7F7CE2-8C83-4A60-B423-E3852CFC8DD2}"/>
              </a:ext>
            </a:extLst>
          </p:cNvPr>
          <p:cNvSpPr>
            <a:spLocks noGrp="1"/>
          </p:cNvSpPr>
          <p:nvPr/>
        </p:nvSpPr>
        <p:spPr>
          <a:xfrm>
            <a:off x="7334250" y="1828800"/>
            <a:ext cx="2857500" cy="2857500"/>
          </a:xfrm>
          <a:prstGeom prst="ellipse">
            <a:avLst/>
          </a:prstGeom>
          <a:solidFill>
            <a:srgbClr val="10151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6C9BED6-2657-41DF-BA10-4A71F29AD49A}"/>
              </a:ext>
            </a:extLst>
          </p:cNvPr>
          <p:cNvSpPr>
            <a:spLocks noGrp="1"/>
          </p:cNvSpPr>
          <p:nvPr/>
        </p:nvSpPr>
        <p:spPr>
          <a:xfrm>
            <a:off x="7715250" y="2209800"/>
            <a:ext cx="2095500" cy="2095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76C1808-FCBE-451A-8F01-BE016F8A2C69}"/>
              </a:ext>
            </a:extLst>
          </p:cNvPr>
          <p:cNvSpPr>
            <a:spLocks noGrp="1"/>
          </p:cNvSpPr>
          <p:nvPr/>
        </p:nvSpPr>
        <p:spPr>
          <a:xfrm rot="-840000">
            <a:off x="6477000" y="2095500"/>
            <a:ext cx="4572000" cy="2286000"/>
          </a:xfrm>
          <a:prstGeom prst="ellipse">
            <a:avLst/>
          </a:prstGeom>
          <a:noFill/>
          <a:ln w="47625">
            <a:solidFill>
              <a:srgbClr val="FFC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7A8583F-6DE4-4C28-95F6-73451F753A2A}"/>
              </a:ext>
            </a:extLst>
          </p:cNvPr>
          <p:cNvSpPr>
            <a:spLocks noGrp="1"/>
          </p:cNvSpPr>
          <p:nvPr/>
        </p:nvSpPr>
        <p:spPr>
          <a:xfrm rot="960000">
            <a:off x="6667500" y="2286000"/>
            <a:ext cx="4191000" cy="1905000"/>
          </a:xfrm>
          <a:prstGeom prst="ellipse">
            <a:avLst/>
          </a:prstGeom>
          <a:noFill/>
          <a:ln w="28575">
            <a:solidFill>
              <a:srgbClr val="52D6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45754-5125-487D-93BA-E8E6CF23E2DE}"/>
              </a:ext>
            </a:extLst>
          </p:cNvPr>
          <p:cNvSpPr>
            <a:spLocks noGrp="1"/>
          </p:cNvSpPr>
          <p:nvPr/>
        </p:nvSpPr>
        <p:spPr>
          <a:xfrm>
            <a:off x="6934200" y="4810125"/>
            <a:ext cx="3714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强到连光都很难逃走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D750CB-7911-4DD2-BCDE-C5043F44E0C5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51435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黑洞不是“吸尘器”，而是质量挤在很小空间里，形成极强引力的天体。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F0B41AF-40AD-4AD2-8B87-D2F28D06F8A5}"/>
              </a:ext>
            </a:extLst>
          </p:cNvPr>
          <p:cNvSpPr>
            <a:spLocks noGrp="1"/>
          </p:cNvSpPr>
          <p:nvPr/>
        </p:nvSpPr>
        <p:spPr>
          <a:xfrm>
            <a:off x="800100" y="3829050"/>
            <a:ext cx="4762500" cy="110490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8AD333-BAE4-4AEB-BD63-16255BD87B51}"/>
              </a:ext>
            </a:extLst>
          </p:cNvPr>
          <p:cNvSpPr>
            <a:spLocks noGrp="1"/>
          </p:cNvSpPr>
          <p:nvPr/>
        </p:nvSpPr>
        <p:spPr>
          <a:xfrm>
            <a:off x="1047750" y="4019550"/>
            <a:ext cx="42862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“引力”就是把物体拉向彼此的力量。地球的引力让我们不会飘到太空中。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670A3E8-F840-4438-9AA5-7D1B17C9CCB7}"/>
              </a:ext>
            </a:extLst>
          </p:cNvPr>
          <p:cNvSpPr>
            <a:spLocks noGrp="1"/>
          </p:cNvSpPr>
          <p:nvPr/>
        </p:nvSpPr>
        <p:spPr>
          <a:xfrm>
            <a:off x="800100" y="5372100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33"/>
          </a:bodyPr>
          <a:lstStyle/>
          <a:p>
            <a:pPr>
              <a:buNone/>
              <a:def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关键词：引力</a:t>
            </a:r>
          </a:p>
        </p:txBody>
      </p:sp>
    </p:spTree>
    <p:extLst>
      <p:ext uri="{BB962C8B-B14F-4D97-AF65-F5344CB8AC3E}">
        <p14:creationId xmlns:p14="http://schemas.microsoft.com/office/powerpoint/2010/main" val="617079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B52C8970-2799-4465-A19C-B28B43DB6CC7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02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7D569B-41E2-4A8A-BBD8-349798A7566F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有些黑洞来自大恒星的“谢幕”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7280BD1-2D41-40C2-953F-C502516E3BE8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469FC66-E645-4BEC-ABF1-977CD9179285}"/>
              </a:ext>
            </a:extLst>
          </p:cNvPr>
          <p:cNvSpPr>
            <a:spLocks noGrp="1"/>
          </p:cNvSpPr>
          <p:nvPr/>
        </p:nvSpPr>
        <p:spPr>
          <a:xfrm>
            <a:off x="1714500" y="2286000"/>
            <a:ext cx="1428750" cy="1428750"/>
          </a:xfrm>
          <a:prstGeom prst="ellipse">
            <a:avLst/>
          </a:prstGeom>
          <a:solidFill>
            <a:srgbClr val="FFB70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117CF3-D39A-485D-A2BF-3F0A5E69D852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大恒星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839A3A-609B-4D2F-A40A-CA7380ABF603}"/>
              </a:ext>
            </a:extLst>
          </p:cNvPr>
          <p:cNvSpPr>
            <a:spLocks noGrp="1"/>
          </p:cNvSpPr>
          <p:nvPr/>
        </p:nvSpPr>
        <p:spPr>
          <a:xfrm>
            <a:off x="1047750" y="44291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燃料慢慢用完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71948D06-534A-4B32-A9D3-865EBD9893CD}"/>
              </a:ext>
            </a:extLst>
          </p:cNvPr>
          <p:cNvSpPr>
            <a:spLocks noGrp="1"/>
          </p:cNvSpPr>
          <p:nvPr/>
        </p:nvSpPr>
        <p:spPr>
          <a:xfrm>
            <a:off x="3810000" y="2857500"/>
            <a:ext cx="952500" cy="361950"/>
          </a:xfrm>
          <a:prstGeom prst="rightArrow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8006728-E75C-47C8-A322-D3032FCF41F7}"/>
              </a:ext>
            </a:extLst>
          </p:cNvPr>
          <p:cNvSpPr>
            <a:spLocks noGrp="1"/>
          </p:cNvSpPr>
          <p:nvPr/>
        </p:nvSpPr>
        <p:spPr>
          <a:xfrm>
            <a:off x="5048250" y="2286000"/>
            <a:ext cx="1428750" cy="1428750"/>
          </a:xfrm>
          <a:prstGeom prst="ellipse">
            <a:avLst/>
          </a:prstGeom>
          <a:solidFill>
            <a:srgbClr val="FF6B3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1484AC7-EE45-40C7-B254-C5C1DC6481E5}"/>
              </a:ext>
            </a:extLst>
          </p:cNvPr>
          <p:cNvSpPr>
            <a:spLocks noGrp="1"/>
          </p:cNvSpPr>
          <p:nvPr/>
        </p:nvSpPr>
        <p:spPr>
          <a:xfrm>
            <a:off x="4619625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E0D8BF7-83F4-4F58-94BF-DCC6AD5B0F0A}"/>
              </a:ext>
            </a:extLst>
          </p:cNvPr>
          <p:cNvSpPr>
            <a:spLocks noGrp="1"/>
          </p:cNvSpPr>
          <p:nvPr/>
        </p:nvSpPr>
        <p:spPr>
          <a:xfrm>
            <a:off x="5238750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F44D66B-48D0-4418-97CC-529324CD9A74}"/>
              </a:ext>
            </a:extLst>
          </p:cNvPr>
          <p:cNvSpPr>
            <a:spLocks noGrp="1"/>
          </p:cNvSpPr>
          <p:nvPr/>
        </p:nvSpPr>
        <p:spPr>
          <a:xfrm>
            <a:off x="5857875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F627A22-7B44-45D2-B19D-2905F5DAD25C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520151F-9CFB-497D-8000-AE47642B90D7}"/>
              </a:ext>
            </a:extLst>
          </p:cNvPr>
          <p:cNvSpPr>
            <a:spLocks noGrp="1"/>
          </p:cNvSpPr>
          <p:nvPr/>
        </p:nvSpPr>
        <p:spPr>
          <a:xfrm>
            <a:off x="4619625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65E76C19-4C2A-46FF-83A0-FFB25303CA94}"/>
              </a:ext>
            </a:extLst>
          </p:cNvPr>
          <p:cNvSpPr>
            <a:spLocks noGrp="1"/>
          </p:cNvSpPr>
          <p:nvPr/>
        </p:nvSpPr>
        <p:spPr>
          <a:xfrm>
            <a:off x="5238750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22313DF-3C76-4EF2-87FB-16848F97590A}"/>
              </a:ext>
            </a:extLst>
          </p:cNvPr>
          <p:cNvSpPr>
            <a:spLocks noGrp="1"/>
          </p:cNvSpPr>
          <p:nvPr/>
        </p:nvSpPr>
        <p:spPr>
          <a:xfrm>
            <a:off x="5857875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0730E0A-1DE3-4F8F-A9DA-789F648BED64}"/>
              </a:ext>
            </a:extLst>
          </p:cNvPr>
          <p:cNvSpPr>
            <a:spLocks noGrp="1"/>
          </p:cNvSpPr>
          <p:nvPr/>
        </p:nvSpPr>
        <p:spPr>
          <a:xfrm>
            <a:off x="6477000" y="3571875"/>
            <a:ext cx="428625" cy="428625"/>
          </a:xfrm>
          <a:prstGeom prst="ellipse">
            <a:avLst/>
          </a:prstGeom>
          <a:solidFill>
            <a:srgbClr val="FFD16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770AC8-9597-4473-9286-20E744FBFDC4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超新星爆发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479FE0-2E91-4F51-B498-5046D93D144F}"/>
              </a:ext>
            </a:extLst>
          </p:cNvPr>
          <p:cNvSpPr>
            <a:spLocks noGrp="1"/>
          </p:cNvSpPr>
          <p:nvPr/>
        </p:nvSpPr>
        <p:spPr>
          <a:xfrm>
            <a:off x="4381500" y="44291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发生巨大的爆炸</a:t>
            </a: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B5C09B11-3701-4AAD-8BEC-BC794095932E}"/>
              </a:ext>
            </a:extLst>
          </p:cNvPr>
          <p:cNvSpPr>
            <a:spLocks noGrp="1"/>
          </p:cNvSpPr>
          <p:nvPr/>
        </p:nvSpPr>
        <p:spPr>
          <a:xfrm>
            <a:off x="7143750" y="2857500"/>
            <a:ext cx="952500" cy="361950"/>
          </a:xfrm>
          <a:prstGeom prst="rightArrow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D8C0127-D77C-47A8-AA3A-9BBB872B0C00}"/>
              </a:ext>
            </a:extLst>
          </p:cNvPr>
          <p:cNvSpPr>
            <a:spLocks noGrp="1"/>
          </p:cNvSpPr>
          <p:nvPr/>
        </p:nvSpPr>
        <p:spPr>
          <a:xfrm>
            <a:off x="8382000" y="2286000"/>
            <a:ext cx="1428750" cy="1428750"/>
          </a:xfrm>
          <a:prstGeom prst="ellipse">
            <a:avLst/>
          </a:prstGeom>
          <a:solidFill>
            <a:srgbClr val="10151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574D914-8FCE-4FCD-A8EB-57CFBBFEC745}"/>
              </a:ext>
            </a:extLst>
          </p:cNvPr>
          <p:cNvSpPr>
            <a:spLocks noGrp="1"/>
          </p:cNvSpPr>
          <p:nvPr/>
        </p:nvSpPr>
        <p:spPr>
          <a:xfrm>
            <a:off x="8763000" y="2667000"/>
            <a:ext cx="666750" cy="66675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500BF56-C5FA-4882-908F-8A58D28CDC85}"/>
              </a:ext>
            </a:extLst>
          </p:cNvPr>
          <p:cNvSpPr>
            <a:spLocks noGrp="1"/>
          </p:cNvSpPr>
          <p:nvPr/>
        </p:nvSpPr>
        <p:spPr>
          <a:xfrm>
            <a:off x="7715250" y="400050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15347B-7FBD-4C13-BEBA-583FBF0FC331}"/>
              </a:ext>
            </a:extLst>
          </p:cNvPr>
          <p:cNvSpPr>
            <a:spLocks noGrp="1"/>
          </p:cNvSpPr>
          <p:nvPr/>
        </p:nvSpPr>
        <p:spPr>
          <a:xfrm>
            <a:off x="7715250" y="44291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核心继续塌缩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C9CE867-96CF-43C4-A3B0-EBD311D3B242}"/>
              </a:ext>
            </a:extLst>
          </p:cNvPr>
          <p:cNvSpPr>
            <a:spLocks noGrp="1"/>
          </p:cNvSpPr>
          <p:nvPr/>
        </p:nvSpPr>
        <p:spPr>
          <a:xfrm>
            <a:off x="1524000" y="5476875"/>
            <a:ext cx="9048750" cy="666750"/>
          </a:xfrm>
          <a:prstGeom prst="roundRect">
            <a:avLst>
              <a:gd name="adj" fmla="val 17143"/>
            </a:avLst>
          </a:prstGeom>
          <a:solidFill>
            <a:srgbClr val="E7F3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B6C6F4D-DADC-4187-84B2-324A5AB85679}"/>
              </a:ext>
            </a:extLst>
          </p:cNvPr>
          <p:cNvSpPr>
            <a:spLocks noGrp="1"/>
          </p:cNvSpPr>
          <p:nvPr/>
        </p:nvSpPr>
        <p:spPr>
          <a:xfrm>
            <a:off x="1952625" y="5619750"/>
            <a:ext cx="8286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 lnSpcReduction="10000"/>
          </a:bodyPr>
          <a:lstStyle/>
          <a:p>
            <a:pPr>
              <a:buNone/>
              <a:def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不是每一颗恒星都会变成黑洞，通常需要“很大很重”的恒星。</a:t>
            </a:r>
          </a:p>
        </p:txBody>
      </p:sp>
    </p:spTree>
    <p:extLst>
      <p:ext uri="{BB962C8B-B14F-4D97-AF65-F5344CB8AC3E}">
        <p14:creationId xmlns:p14="http://schemas.microsoft.com/office/powerpoint/2010/main" val="117317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64069F1-B08B-4405-BE90-E928D18CFF08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03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22584A-571A-481E-A7D2-1C729A8C8F41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黑洞周围有什么？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50EB480-2A4B-457B-BAB1-AC0BEFCE4018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81A698-E60C-400C-8B88-5F76492013F7}"/>
              </a:ext>
            </a:extLst>
          </p:cNvPr>
          <p:cNvSpPr>
            <a:spLocks noGrp="1"/>
          </p:cNvSpPr>
          <p:nvPr/>
        </p:nvSpPr>
        <p:spPr>
          <a:xfrm>
            <a:off x="7200900" y="1524000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029" lnSpcReduction="10000"/>
          </a:bodyPr>
          <a:lstStyle/>
          <a:p>
            <a:pPr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87B416-DE88-4944-909B-EF419036EFE6}"/>
              </a:ext>
            </a:extLst>
          </p:cNvPr>
          <p:cNvSpPr>
            <a:spLocks noGrp="1"/>
          </p:cNvSpPr>
          <p:nvPr/>
        </p:nvSpPr>
        <p:spPr>
          <a:xfrm>
            <a:off x="7200900" y="18573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越过这条边界，连光也无法回来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175B268-A92B-4655-B441-C0F16B9F3B0B}"/>
              </a:ext>
            </a:extLst>
          </p:cNvPr>
          <p:cNvSpPr>
            <a:spLocks noGrp="1"/>
          </p:cNvSpPr>
          <p:nvPr/>
        </p:nvSpPr>
        <p:spPr>
          <a:xfrm>
            <a:off x="6286500" y="2524125"/>
            <a:ext cx="2381250" cy="238125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0056333-E73C-4E80-8D3E-915E683C7A06}"/>
              </a:ext>
            </a:extLst>
          </p:cNvPr>
          <p:cNvSpPr>
            <a:spLocks noGrp="1"/>
          </p:cNvSpPr>
          <p:nvPr/>
        </p:nvSpPr>
        <p:spPr>
          <a:xfrm rot="-720000">
            <a:off x="4762500" y="2714625"/>
            <a:ext cx="5524500" cy="2000250"/>
          </a:xfrm>
          <a:prstGeom prst="ellipse">
            <a:avLst/>
          </a:prstGeom>
          <a:noFill/>
          <a:ln w="133350">
            <a:solidFill>
              <a:srgbClr val="FFC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500960D-7440-4435-916A-F34DAAAEBCC3}"/>
              </a:ext>
            </a:extLst>
          </p:cNvPr>
          <p:cNvSpPr>
            <a:spLocks noGrp="1"/>
          </p:cNvSpPr>
          <p:nvPr/>
        </p:nvSpPr>
        <p:spPr>
          <a:xfrm rot="780000">
            <a:off x="5095875" y="3000375"/>
            <a:ext cx="4857750" cy="1428750"/>
          </a:xfrm>
          <a:prstGeom prst="ellipse">
            <a:avLst/>
          </a:prstGeom>
          <a:noFill/>
          <a:ln w="66675">
            <a:solidFill>
              <a:srgbClr val="FF8A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72250F-6777-4E7B-B6A9-8B47B36FACF3}"/>
              </a:ext>
            </a:extLst>
          </p:cNvPr>
          <p:cNvSpPr>
            <a:spLocks noGrp="1"/>
          </p:cNvSpPr>
          <p:nvPr/>
        </p:nvSpPr>
        <p:spPr>
          <a:xfrm>
            <a:off x="1857375" y="2638425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194" lnSpcReduction="10000"/>
          </a:bodyPr>
          <a:lstStyle/>
          <a:p>
            <a:pPr>
              <a:buNone/>
              <a:def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吸积盘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BE9105-FEC9-4A97-BEE3-B8BBF5C69397}"/>
              </a:ext>
            </a:extLst>
          </p:cNvPr>
          <p:cNvSpPr>
            <a:spLocks noGrp="1"/>
          </p:cNvSpPr>
          <p:nvPr/>
        </p:nvSpPr>
        <p:spPr>
          <a:xfrm>
            <a:off x="1857375" y="3067050"/>
            <a:ext cx="29527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441"/>
          </a:bodyPr>
          <a:lstStyle/>
          <a:p>
            <a:pPr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气体和尘埃绕着黑洞转动，互相摩擦，会变得很热、很亮。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0F5173C-5FF7-4D1F-8493-DC53494AED44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9239250" cy="819150"/>
          </a:xfrm>
          <a:prstGeom prst="roundRect">
            <a:avLst>
              <a:gd name="adj" fmla="val 13953"/>
            </a:avLst>
          </a:prstGeom>
          <a:solidFill>
            <a:srgbClr val="152C5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3E181D-BD5D-4810-AAB0-CEF7E97AE4E2}"/>
              </a:ext>
            </a:extLst>
          </p:cNvPr>
          <p:cNvSpPr>
            <a:spLocks noGrp="1"/>
          </p:cNvSpPr>
          <p:nvPr/>
        </p:nvSpPr>
        <p:spPr>
          <a:xfrm>
            <a:off x="1809750" y="5143500"/>
            <a:ext cx="8477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事件视界像一条“返回线”。进入后，任何东西都不能回到外面。</a:t>
            </a:r>
          </a:p>
        </p:txBody>
      </p:sp>
    </p:spTree>
    <p:extLst>
      <p:ext uri="{BB962C8B-B14F-4D97-AF65-F5344CB8AC3E}">
        <p14:creationId xmlns:p14="http://schemas.microsoft.com/office/powerpoint/2010/main" val="36455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C3F10DD-C905-49D7-8F8E-6B7BE2467C3E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>
              <a:defRPr sz="1350" b="1">
                <a:solidFill>
                  <a:srgbClr val="63C6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3C6FF"/>
                </a:solidFill>
                <a:latin typeface="PingFang SC"/>
                <a:ea typeface="PingFang SC"/>
                <a:cs typeface="PingFang SC"/>
              </a:rPr>
              <a:t>04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CB3B59-04AB-4035-BF1E-E10163DA1842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9620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吸积盘为什么看起来像一圈光环？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203A39-02DF-4ECB-9341-78BC8BDFC26E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ect">
            <a:avLst/>
          </a:prstGeom>
          <a:solidFill>
            <a:srgbClr val="FFC64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9BB4B0-5887-4BEB-87AC-4284778EF17B}"/>
              </a:ext>
            </a:extLst>
          </p:cNvPr>
          <p:cNvSpPr>
            <a:spLocks noGrp="1"/>
          </p:cNvSpPr>
          <p:nvPr/>
        </p:nvSpPr>
        <p:spPr>
          <a:xfrm>
            <a:off x="4762500" y="1625600"/>
            <a:ext cx="4826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00" lnSpcReduction="10000"/>
          </a:bodyPr>
          <a:lstStyle/>
          <a:p>
            <a:pPr>
              <a:defRPr sz="1875" b="1">
                <a:solidFill>
                  <a:srgbClr val="FFC64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875" b="1">
                <a:solidFill>
                  <a:srgbClr val="FFC64B"/>
                </a:solidFill>
                <a:latin typeface="PingFang SC"/>
                <a:ea typeface="PingFang SC"/>
                <a:cs typeface="PingFang SC"/>
              </a:rPr>
              <a:t>吸积盘本身是一个扁平的圆盘</a:t>
            </a:r>
            <a:endParaRPr sz="1875" b="1">
              <a:solidFill>
                <a:srgbClr val="FFC64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2CEBDF-DF0A-4B92-85A3-CA9732A5A488}"/>
              </a:ext>
            </a:extLst>
          </p:cNvPr>
          <p:cNvSpPr>
            <a:spLocks noGrp="1"/>
          </p:cNvSpPr>
          <p:nvPr/>
        </p:nvSpPr>
        <p:spPr>
          <a:xfrm>
            <a:off x="4762500" y="2032000"/>
            <a:ext cx="4953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>
                <a:solidFill>
                  <a:srgbClr val="D8E6F5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650">
                <a:solidFill>
                  <a:srgbClr val="D8E6F5"/>
                </a:solidFill>
                <a:latin typeface="PingFang SC"/>
                <a:ea typeface="PingFang SC"/>
                <a:cs typeface="PingFang SC"/>
              </a:rPr>
              <a:t>黑洞会弯曲光线，让圆盘远侧的光绕到我们眼前，像在黑洞上方和下方又出现一圈。</a:t>
            </a:r>
            <a:endParaRPr sz="1650">
              <a:solidFill>
                <a:srgbClr val="D8E6F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58E89E0-A718-442B-B28A-4C2229A245E1}"/>
              </a:ext>
            </a:extLst>
          </p:cNvPr>
          <p:cNvSpPr>
            <a:spLocks noGrp="1"/>
          </p:cNvSpPr>
          <p:nvPr/>
        </p:nvSpPr>
        <p:spPr>
          <a:xfrm>
            <a:off x="5762625" y="3143250"/>
            <a:ext cx="4000500" cy="1047750"/>
          </a:xfrm>
          <a:prstGeom prst="ellipse">
            <a:avLst/>
          </a:prstGeom>
          <a:solidFill>
            <a:srgbClr val="F5A623"/>
          </a:solidFill>
          <a:ln w="38100">
            <a:solidFill>
              <a:srgbClr val="FFD1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9DD4B47-7C5C-4090-BA1B-57CF8240546A}"/>
              </a:ext>
            </a:extLst>
          </p:cNvPr>
          <p:cNvSpPr>
            <a:spLocks noGrp="1"/>
          </p:cNvSpPr>
          <p:nvPr/>
        </p:nvSpPr>
        <p:spPr>
          <a:xfrm>
            <a:off x="6191250" y="3305175"/>
            <a:ext cx="3143250" cy="723900"/>
          </a:xfrm>
          <a:prstGeom prst="ellipse">
            <a:avLst/>
          </a:prstGeom>
          <a:solidFill>
            <a:srgbClr val="FF6A3D"/>
          </a:solidFill>
          <a:ln w="19050">
            <a:solidFill>
              <a:srgbClr val="FFC64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5A90AD1-8376-4439-AD9A-EB09E5B201EB}"/>
              </a:ext>
            </a:extLst>
          </p:cNvPr>
          <p:cNvSpPr>
            <a:spLocks noGrp="1"/>
          </p:cNvSpPr>
          <p:nvPr/>
        </p:nvSpPr>
        <p:spPr>
          <a:xfrm>
            <a:off x="6877050" y="2781300"/>
            <a:ext cx="1771650" cy="1771650"/>
          </a:xfrm>
          <a:prstGeom prst="ellipse">
            <a:avLst/>
          </a:prstGeom>
          <a:solidFill>
            <a:srgbClr val="01040B"/>
          </a:solidFill>
          <a:ln w="28575">
            <a:solidFill>
              <a:srgbClr val="90A4C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A560905-7745-47E5-8384-E5488F5F856B}"/>
              </a:ext>
            </a:extLst>
          </p:cNvPr>
          <p:cNvSpPr>
            <a:spLocks noGrp="1"/>
          </p:cNvSpPr>
          <p:nvPr/>
        </p:nvSpPr>
        <p:spPr>
          <a:xfrm>
            <a:off x="7134225" y="3038475"/>
            <a:ext cx="1257300" cy="12573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D4F87A-BB15-475F-B926-A3F966769F6A}"/>
              </a:ext>
            </a:extLst>
          </p:cNvPr>
          <p:cNvSpPr>
            <a:spLocks noGrp="1"/>
          </p:cNvSpPr>
          <p:nvPr/>
        </p:nvSpPr>
        <p:spPr>
          <a:xfrm>
            <a:off x="7305675" y="3552825"/>
            <a:ext cx="914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202" lnSpcReduction="20000"/>
          </a:bodyPr>
          <a:lstStyle/>
          <a:p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0C2B63E-31D2-4F10-B1D1-CD322A9AD652}"/>
              </a:ext>
            </a:extLst>
          </p:cNvPr>
          <p:cNvSpPr>
            <a:spLocks noGrp="1"/>
          </p:cNvSpPr>
          <p:nvPr/>
        </p:nvSpPr>
        <p:spPr>
          <a:xfrm>
            <a:off x="6353175" y="2895600"/>
            <a:ext cx="2819400" cy="609600"/>
          </a:xfrm>
          <a:prstGeom prst="ellipse">
            <a:avLst/>
          </a:prstGeom>
          <a:solidFill>
            <a:srgbClr val="FFF0B0"/>
          </a:solidFill>
          <a:ln w="28575">
            <a:solidFill>
              <a:srgbClr val="FFC64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650DEF6-0C62-4F31-B409-6D720551B332}"/>
              </a:ext>
            </a:extLst>
          </p:cNvPr>
          <p:cNvSpPr>
            <a:spLocks noGrp="1"/>
          </p:cNvSpPr>
          <p:nvPr/>
        </p:nvSpPr>
        <p:spPr>
          <a:xfrm>
            <a:off x="6638925" y="3022600"/>
            <a:ext cx="2247900" cy="333375"/>
          </a:xfrm>
          <a:prstGeom prst="ellipse">
            <a:avLst/>
          </a:prstGeom>
          <a:solidFill>
            <a:srgbClr val="07193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33F8BD3-5ECB-4537-8794-887A70DA53AC}"/>
              </a:ext>
            </a:extLst>
          </p:cNvPr>
          <p:cNvSpPr>
            <a:spLocks noGrp="1"/>
          </p:cNvSpPr>
          <p:nvPr/>
        </p:nvSpPr>
        <p:spPr>
          <a:xfrm>
            <a:off x="6353175" y="4419600"/>
            <a:ext cx="2819400" cy="495300"/>
          </a:xfrm>
          <a:prstGeom prst="ellipse">
            <a:avLst/>
          </a:prstGeom>
          <a:solidFill>
            <a:srgbClr val="B7E8FF"/>
          </a:solidFill>
          <a:ln w="28575">
            <a:solidFill>
              <a:srgbClr val="63C6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49F560D-BDC0-4320-884B-96F1AA6756FB}"/>
              </a:ext>
            </a:extLst>
          </p:cNvPr>
          <p:cNvSpPr>
            <a:spLocks noGrp="1"/>
          </p:cNvSpPr>
          <p:nvPr/>
        </p:nvSpPr>
        <p:spPr>
          <a:xfrm>
            <a:off x="6638925" y="4514850"/>
            <a:ext cx="2247900" cy="257175"/>
          </a:xfrm>
          <a:prstGeom prst="ellipse">
            <a:avLst/>
          </a:prstGeom>
          <a:solidFill>
            <a:srgbClr val="07193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9F66AD-50C2-4BD8-B25A-60579A48D77D}"/>
              </a:ext>
            </a:extLst>
          </p:cNvPr>
          <p:cNvSpPr>
            <a:spLocks noGrp="1"/>
          </p:cNvSpPr>
          <p:nvPr/>
        </p:nvSpPr>
        <p:spPr>
          <a:xfrm>
            <a:off x="571500" y="60960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246"/>
          </a:bodyPr>
          <a:lstStyle/>
          <a:p>
            <a:pPr algn="ctr">
              <a:defRPr sz="1425">
                <a:solidFill>
                  <a:srgbClr val="B7E8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425">
                <a:solidFill>
                  <a:srgbClr val="B7E8FF"/>
                </a:solidFill>
                <a:latin typeface="PingFang SC"/>
                <a:ea typeface="PingFang SC"/>
                <a:cs typeface="PingFang SC"/>
              </a:rPr>
              <a:t>点击播放中文配音视频</a:t>
            </a:r>
            <a:endParaRPr sz="1425">
              <a:solidFill>
                <a:srgbClr val="B7E8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7" name="吸积盘引力透镜演示-中文配音">
            <a:hlinkClick r:id="" action="ppaction://media"/>
            <a:extLst>
              <a:ext uri="{FF2B5EF4-FFF2-40B4-BE49-F238E27FC236}">
                <a16:creationId xmlns:a16="http://schemas.microsoft.com/office/drawing/2014/main" id="{93890228-6973-8641-E46E-153B9508DA14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1499" y="1651000"/>
            <a:ext cx="2476500" cy="4292600"/>
          </a:xfrm>
          <a:prstGeom prst="rect">
            <a:avLst/>
          </a:prstGeom>
        </p:spPr>
      </p:pic>
      <p:pic>
        <p:nvPicPr>
          <p:cNvPr id="21" name="吸积盘引力透镜演示-中文配音">
            <a:hlinkClick r:id="" action="ppaction://media"/>
            <a:extLst>
              <a:ext uri="{FF2B5EF4-FFF2-40B4-BE49-F238E27FC236}">
                <a16:creationId xmlns:a16="http://schemas.microsoft.com/office/drawing/2014/main" id="{811F689A-555B-3888-8B09-0460ACFD6BB2}"/>
              </a:ext>
            </a:extLst>
          </p:cNvPr>
          <p:cNvPicPr>
            <a:picLocks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71499" y="1651000"/>
            <a:ext cx="2476500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C057F48-1DFB-4750-842B-0524F11AF25D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05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A42A5B-C6DF-453E-84DD-55DAF6DCCC4C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黑洞会把宇宙里的一切都吸走吗？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30FEF750-0DD5-4FF3-9697-DADB6F22C05E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138B37-2EA9-4A79-80A7-64A34717165A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不会。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BABBB5-4518-4669-A424-09536006E30B}"/>
              </a:ext>
            </a:extLst>
          </p:cNvPr>
          <p:cNvSpPr>
            <a:spLocks noGrp="1"/>
          </p:cNvSpPr>
          <p:nvPr/>
        </p:nvSpPr>
        <p:spPr>
          <a:xfrm>
            <a:off x="857250" y="2619375"/>
            <a:ext cx="5048250" cy="781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离得很远时，黑洞的引力和同样质量的其他天体一样。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E364767-84F8-4795-9AA0-A5B7CB4A0D5E}"/>
              </a:ext>
            </a:extLst>
          </p:cNvPr>
          <p:cNvSpPr>
            <a:spLocks noGrp="1"/>
          </p:cNvSpPr>
          <p:nvPr/>
        </p:nvSpPr>
        <p:spPr>
          <a:xfrm>
            <a:off x="857250" y="3952875"/>
            <a:ext cx="514350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DA1A4D-301C-4E9F-9F6C-278B55D6080C}"/>
              </a:ext>
            </a:extLst>
          </p:cNvPr>
          <p:cNvSpPr>
            <a:spLocks noGrp="1"/>
          </p:cNvSpPr>
          <p:nvPr/>
        </p:nvSpPr>
        <p:spPr>
          <a:xfrm>
            <a:off x="1162050" y="4210050"/>
            <a:ext cx="45720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23"/>
          </a:bodyPr>
          <a:lstStyle/>
          <a:p>
            <a:pPr>
              <a:buNone/>
              <a:def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只有靠得非常近，黑洞的引力才会变得特别危险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65C825D-FCF5-4E20-A1D7-62BA22909DEC}"/>
              </a:ext>
            </a:extLst>
          </p:cNvPr>
          <p:cNvSpPr>
            <a:spLocks noGrp="1"/>
          </p:cNvSpPr>
          <p:nvPr/>
        </p:nvSpPr>
        <p:spPr>
          <a:xfrm>
            <a:off x="8239125" y="2324100"/>
            <a:ext cx="2095500" cy="2095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632521D-DDCE-4F47-894C-19D9FE93BFBC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5048250" cy="2476500"/>
          </a:xfrm>
          <a:prstGeom prst="ellipse">
            <a:avLst/>
          </a:prstGeom>
          <a:noFill/>
          <a:ln w="28575">
            <a:solidFill>
              <a:srgbClr val="2F80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FCEA3EF-7382-4798-8467-F23AB4B99258}"/>
              </a:ext>
            </a:extLst>
          </p:cNvPr>
          <p:cNvSpPr>
            <a:spLocks noGrp="1"/>
          </p:cNvSpPr>
          <p:nvPr/>
        </p:nvSpPr>
        <p:spPr>
          <a:xfrm>
            <a:off x="10239375" y="3143250"/>
            <a:ext cx="400050" cy="400050"/>
          </a:xfrm>
          <a:prstGeom prst="ellipse">
            <a:avLst/>
          </a:prstGeom>
          <a:solidFill>
            <a:srgbClr val="52D6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D5EAD8-3024-4AC3-A741-E03F1A397003}"/>
              </a:ext>
            </a:extLst>
          </p:cNvPr>
          <p:cNvSpPr>
            <a:spLocks noGrp="1"/>
          </p:cNvSpPr>
          <p:nvPr/>
        </p:nvSpPr>
        <p:spPr>
          <a:xfrm>
            <a:off x="9505950" y="38100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远处的小行星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183331-5322-4D60-8164-69CB44EF4913}"/>
              </a:ext>
            </a:extLst>
          </p:cNvPr>
          <p:cNvSpPr>
            <a:spLocks noGrp="1"/>
          </p:cNvSpPr>
          <p:nvPr/>
        </p:nvSpPr>
        <p:spPr>
          <a:xfrm>
            <a:off x="7239000" y="5162550"/>
            <a:ext cx="3905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>
              <a:buNone/>
              <a:def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750D7"/>
                </a:solidFill>
                <a:latin typeface="PingFang SC"/>
                <a:ea typeface="PingFang SC"/>
                <a:cs typeface="PingFang SC"/>
              </a:rPr>
              <a:t>它可以继续绕着黑洞运行</a:t>
            </a:r>
          </a:p>
        </p:txBody>
      </p:sp>
    </p:spTree>
    <p:extLst>
      <p:ext uri="{BB962C8B-B14F-4D97-AF65-F5344CB8AC3E}">
        <p14:creationId xmlns:p14="http://schemas.microsoft.com/office/powerpoint/2010/main" val="195725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F6E6B347-62D9-476C-863E-726B46A4EA4B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06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E7E9D6-AFDF-4424-A01E-92124A815D80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61EF368-FE61-476B-B7C5-9674E40707C9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BC3319-ADEA-4D59-8EBA-343021ADA49C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1 步：离得远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46AD3D-8D25-42A5-B4A1-926698B6E2FD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小行星可以稳定地绕着黑洞运行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2DE834A-6CD4-483F-B546-3F64D3ACAF35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2857500" cy="2857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AFAA0E5-DDD9-49C6-8E46-4F94B0F7A2AF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3238500" cy="3238500"/>
          </a:xfrm>
          <a:prstGeom prst="ellipse">
            <a:avLst/>
          </a:prstGeom>
          <a:noFill/>
          <a:ln w="28575">
            <a:solidFill>
              <a:srgbClr val="8B9FC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2BFA17-FB7A-4942-AD8F-F70C7CE0A73F}"/>
              </a:ext>
            </a:extLst>
          </p:cNvPr>
          <p:cNvSpPr>
            <a:spLocks noGrp="1"/>
          </p:cNvSpPr>
          <p:nvPr/>
        </p:nvSpPr>
        <p:spPr>
          <a:xfrm>
            <a:off x="6705600" y="54768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7182BB8-2914-4CE7-9F6A-4C17BDFEC3AE}"/>
              </a:ext>
            </a:extLst>
          </p:cNvPr>
          <p:cNvSpPr>
            <a:spLocks noGrp="1"/>
          </p:cNvSpPr>
          <p:nvPr/>
        </p:nvSpPr>
        <p:spPr>
          <a:xfrm rot="-600000">
            <a:off x="5238750" y="2857500"/>
            <a:ext cx="6000750" cy="2190750"/>
          </a:xfrm>
          <a:prstGeom prst="ellipse">
            <a:avLst/>
          </a:prstGeom>
          <a:noFill/>
          <a:ln w="28575">
            <a:solidFill>
              <a:srgbClr val="2F80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910ED55-09C7-460E-87BE-E614C40D7E63}"/>
              </a:ext>
            </a:extLst>
          </p:cNvPr>
          <p:cNvSpPr>
            <a:spLocks noGrp="1"/>
          </p:cNvSpPr>
          <p:nvPr/>
        </p:nvSpPr>
        <p:spPr>
          <a:xfrm>
            <a:off x="10001250" y="3476625"/>
            <a:ext cx="514350" cy="514350"/>
          </a:xfrm>
          <a:prstGeom prst="ellipse">
            <a:avLst/>
          </a:prstGeom>
          <a:solidFill>
            <a:srgbClr val="52D6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EEB0F12-50D5-4655-B6A9-C8D49BCC97EA}"/>
              </a:ext>
            </a:extLst>
          </p:cNvPr>
          <p:cNvSpPr>
            <a:spLocks noGrp="1"/>
          </p:cNvSpPr>
          <p:nvPr/>
        </p:nvSpPr>
        <p:spPr>
          <a:xfrm>
            <a:off x="9667875" y="4114800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712D26A0-76EF-41CA-8E1A-5CF7C25276EA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10096500" cy="457200"/>
          </a:xfrm>
          <a:prstGeom prst="roundRect">
            <a:avLst>
              <a:gd name="adj" fmla="val 25000"/>
            </a:avLst>
          </a:prstGeom>
          <a:solidFill>
            <a:srgbClr val="152C5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2A38B2-670C-4FE5-A0CB-B4B637D9616E}"/>
              </a:ext>
            </a:extLst>
          </p:cNvPr>
          <p:cNvSpPr>
            <a:spLocks noGrp="1"/>
          </p:cNvSpPr>
          <p:nvPr/>
        </p:nvSpPr>
        <p:spPr>
          <a:xfrm>
            <a:off x="1428750" y="58674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121685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27D200C-0B0A-4806-B1FC-91BCEB5AC9F5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07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B48561-090B-42F7-AB6E-7F2ED246D0E4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928A7AC-67C2-4AED-B93C-9C6E50500EFF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12AA18-E4B8-4C36-9A3E-DC922D444A98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2 步：越来越近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A52071-2474-4F07-BE44-830F412BE175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引力变强，小行星的轨道开始改变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8C62519-491C-4366-93AD-8B0AF0B0D374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2857500" cy="2857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8062FB9-BF7A-4DFE-B584-FC2F6FD4939D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3238500" cy="3238500"/>
          </a:xfrm>
          <a:prstGeom prst="ellipse">
            <a:avLst/>
          </a:prstGeom>
          <a:noFill/>
          <a:ln w="28575">
            <a:solidFill>
              <a:srgbClr val="8B9FC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5E7DBD-8CCF-4C60-9634-838F93B3B57C}"/>
              </a:ext>
            </a:extLst>
          </p:cNvPr>
          <p:cNvSpPr>
            <a:spLocks noGrp="1"/>
          </p:cNvSpPr>
          <p:nvPr/>
        </p:nvSpPr>
        <p:spPr>
          <a:xfrm>
            <a:off x="6705600" y="54768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E5BAE53-9190-46FB-847A-1557C1B55373}"/>
              </a:ext>
            </a:extLst>
          </p:cNvPr>
          <p:cNvSpPr>
            <a:spLocks noGrp="1"/>
          </p:cNvSpPr>
          <p:nvPr/>
        </p:nvSpPr>
        <p:spPr>
          <a:xfrm rot="-600000">
            <a:off x="5238750" y="2857500"/>
            <a:ext cx="6000750" cy="2190750"/>
          </a:xfrm>
          <a:prstGeom prst="ellipse">
            <a:avLst/>
          </a:prstGeom>
          <a:noFill/>
          <a:ln w="28575">
            <a:solidFill>
              <a:srgbClr val="2F80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7861261-0DFE-4E6A-956C-F7C1B6BD3182}"/>
              </a:ext>
            </a:extLst>
          </p:cNvPr>
          <p:cNvSpPr>
            <a:spLocks noGrp="1"/>
          </p:cNvSpPr>
          <p:nvPr/>
        </p:nvSpPr>
        <p:spPr>
          <a:xfrm>
            <a:off x="8334375" y="3476625"/>
            <a:ext cx="514350" cy="514350"/>
          </a:xfrm>
          <a:prstGeom prst="ellipse">
            <a:avLst/>
          </a:prstGeom>
          <a:solidFill>
            <a:srgbClr val="52D6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9C38A5-3B19-4929-B58D-51EC07AAA500}"/>
              </a:ext>
            </a:extLst>
          </p:cNvPr>
          <p:cNvSpPr>
            <a:spLocks noGrp="1"/>
          </p:cNvSpPr>
          <p:nvPr/>
        </p:nvSpPr>
        <p:spPr>
          <a:xfrm>
            <a:off x="8001000" y="4114800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左箭头 11">
            <a:extLst>
              <a:ext uri="{FF2B5EF4-FFF2-40B4-BE49-F238E27FC236}">
                <a16:creationId xmlns:a16="http://schemas.microsoft.com/office/drawing/2014/main" id="{C9EF2633-82EE-4B53-B8FA-312A85DFFBF6}"/>
              </a:ext>
            </a:extLst>
          </p:cNvPr>
          <p:cNvSpPr>
            <a:spLocks noGrp="1"/>
          </p:cNvSpPr>
          <p:nvPr/>
        </p:nvSpPr>
        <p:spPr>
          <a:xfrm>
            <a:off x="7591425" y="3571875"/>
            <a:ext cx="628650" cy="285750"/>
          </a:xfrm>
          <a:prstGeom prst="leftArrow">
            <a:avLst/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7BE4F73-A1AC-4F80-9261-5F1E4BEE55BF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10096500" cy="457200"/>
          </a:xfrm>
          <a:prstGeom prst="roundRect">
            <a:avLst>
              <a:gd name="adj" fmla="val 25000"/>
            </a:avLst>
          </a:prstGeom>
          <a:solidFill>
            <a:srgbClr val="152C5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E23684-B0DF-46E2-9C47-C939C20AF5BB}"/>
              </a:ext>
            </a:extLst>
          </p:cNvPr>
          <p:cNvSpPr>
            <a:spLocks noGrp="1"/>
          </p:cNvSpPr>
          <p:nvPr/>
        </p:nvSpPr>
        <p:spPr>
          <a:xfrm>
            <a:off x="1428750" y="58674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1383094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FAC4080-BA17-46A5-B94A-33E7310D9941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08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03E771-D12B-426F-94F7-1CAEF05AF5C8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引力演示：小行星靠近黑洞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F6A76168-063D-4BFA-84C6-7753E9ECC569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1EC07C-DF20-40FE-A917-A48BDE2B08DD}"/>
              </a:ext>
            </a:extLst>
          </p:cNvPr>
          <p:cNvSpPr>
            <a:spLocks noGrp="1"/>
          </p:cNvSpPr>
          <p:nvPr/>
        </p:nvSpPr>
        <p:spPr>
          <a:xfrm>
            <a:off x="857250" y="1762125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第 3 步：太靠近了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46104B-2317-416F-B0D6-FA1BA2A1A560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越过事件视界后，小行星无法返回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728B5AE-9D68-4047-9B7E-D953804102C7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2857500" cy="28575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9F1B8A6-1CFF-42CA-98AC-F678009FF402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3238500" cy="3238500"/>
          </a:xfrm>
          <a:prstGeom prst="ellipse">
            <a:avLst/>
          </a:prstGeom>
          <a:noFill/>
          <a:ln w="28575">
            <a:solidFill>
              <a:srgbClr val="8B9FC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5566C3-21E8-4AE7-A329-7597E491FE3D}"/>
              </a:ext>
            </a:extLst>
          </p:cNvPr>
          <p:cNvSpPr>
            <a:spLocks noGrp="1"/>
          </p:cNvSpPr>
          <p:nvPr/>
        </p:nvSpPr>
        <p:spPr>
          <a:xfrm>
            <a:off x="6705600" y="54768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D4F5"/>
                </a:solidFill>
                <a:latin typeface="PingFang SC"/>
                <a:ea typeface="PingFang SC"/>
                <a:cs typeface="PingFang SC"/>
              </a:rPr>
              <a:t>事件视界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22196B3-0F75-4F9D-9E7E-B8D44CA58FCE}"/>
              </a:ext>
            </a:extLst>
          </p:cNvPr>
          <p:cNvSpPr>
            <a:spLocks noGrp="1"/>
          </p:cNvSpPr>
          <p:nvPr/>
        </p:nvSpPr>
        <p:spPr>
          <a:xfrm rot="-600000">
            <a:off x="5238750" y="2857500"/>
            <a:ext cx="6000750" cy="2190750"/>
          </a:xfrm>
          <a:prstGeom prst="ellipse">
            <a:avLst/>
          </a:prstGeom>
          <a:noFill/>
          <a:ln w="28575">
            <a:solidFill>
              <a:srgbClr val="2F80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802E3B6-3CC2-45E7-A950-6373E763FEB9}"/>
              </a:ext>
            </a:extLst>
          </p:cNvPr>
          <p:cNvSpPr>
            <a:spLocks noGrp="1"/>
          </p:cNvSpPr>
          <p:nvPr/>
        </p:nvSpPr>
        <p:spPr>
          <a:xfrm>
            <a:off x="6838950" y="3476625"/>
            <a:ext cx="514350" cy="514350"/>
          </a:xfrm>
          <a:prstGeom prst="ellipse">
            <a:avLst/>
          </a:prstGeom>
          <a:solidFill>
            <a:srgbClr val="52D6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BDD0D5-BD1B-4D22-ADC0-5DA3AAD1C4D1}"/>
              </a:ext>
            </a:extLst>
          </p:cNvPr>
          <p:cNvSpPr>
            <a:spLocks noGrp="1"/>
          </p:cNvSpPr>
          <p:nvPr/>
        </p:nvSpPr>
        <p:spPr>
          <a:xfrm>
            <a:off x="6505575" y="4114800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小行星</a:t>
            </a:r>
          </a:p>
        </p:txBody>
      </p:sp>
      <p:sp>
        <p:nvSpPr>
          <p:cNvPr id="12" name="左箭头 11">
            <a:extLst>
              <a:ext uri="{FF2B5EF4-FFF2-40B4-BE49-F238E27FC236}">
                <a16:creationId xmlns:a16="http://schemas.microsoft.com/office/drawing/2014/main" id="{5F295164-055B-4FCE-9E24-F4ED45DED30B}"/>
              </a:ext>
            </a:extLst>
          </p:cNvPr>
          <p:cNvSpPr>
            <a:spLocks noGrp="1"/>
          </p:cNvSpPr>
          <p:nvPr/>
        </p:nvSpPr>
        <p:spPr>
          <a:xfrm>
            <a:off x="6096000" y="3571875"/>
            <a:ext cx="628650" cy="285750"/>
          </a:xfrm>
          <a:prstGeom prst="leftArrow">
            <a:avLst/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1193252-0969-4097-A2E5-0114137B5B9D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10096500" cy="457200"/>
          </a:xfrm>
          <a:prstGeom prst="roundRect">
            <a:avLst>
              <a:gd name="adj" fmla="val 25000"/>
            </a:avLst>
          </a:prstGeom>
          <a:solidFill>
            <a:srgbClr val="152C5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E14EA9-C066-4115-9D24-CD26621995C8}"/>
              </a:ext>
            </a:extLst>
          </p:cNvPr>
          <p:cNvSpPr>
            <a:spLocks noGrp="1"/>
          </p:cNvSpPr>
          <p:nvPr/>
        </p:nvSpPr>
        <p:spPr>
          <a:xfrm>
            <a:off x="1428750" y="58674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74" lnSpcReduction="10000"/>
          </a:bodyPr>
          <a:lstStyle/>
          <a:p>
            <a:pPr>
              <a:buNone/>
              <a:def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DCEBFF"/>
                </a:solidFill>
                <a:latin typeface="PingFang SC"/>
                <a:ea typeface="PingFang SC"/>
                <a:cs typeface="PingFang SC"/>
              </a:rPr>
              <a:t>演讲时连按三次翻页键，就能看到“靠近黑洞”的动态过程</a:t>
            </a:r>
          </a:p>
        </p:txBody>
      </p:sp>
    </p:spTree>
    <p:extLst>
      <p:ext uri="{BB962C8B-B14F-4D97-AF65-F5344CB8AC3E}">
        <p14:creationId xmlns:p14="http://schemas.microsoft.com/office/powerpoint/2010/main" val="735853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DF4EC8E-D4EF-4434-B418-A344C7A23FE9}"/>
              </a:ext>
            </a:extLst>
          </p:cNvPr>
          <p:cNvSpPr>
            <a:spLocks noGrp="1"/>
          </p:cNvSpPr>
          <p:nvPr/>
        </p:nvSpPr>
        <p:spPr>
          <a:xfrm>
            <a:off x="704850" y="4572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>
              <a:buNone/>
              <a:def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0ED"/>
                </a:solidFill>
                <a:latin typeface="PingFang SC"/>
                <a:ea typeface="PingFang SC"/>
                <a:cs typeface="PingFang SC"/>
              </a:rPr>
              <a:t>09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8BD0FD-DD1A-4709-AAC2-66A9E9D7267D}"/>
              </a:ext>
            </a:extLst>
          </p:cNvPr>
          <p:cNvSpPr>
            <a:spLocks noGrp="1"/>
          </p:cNvSpPr>
          <p:nvPr/>
        </p:nvSpPr>
        <p:spPr>
          <a:xfrm>
            <a:off x="704850" y="762000"/>
            <a:ext cx="86677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看不见黑洞，科学家怎样找到它？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8D3B2AA7-A189-4763-AF1C-EE61C146E1AF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B56A243-2186-42F1-9CA9-68085B64C342}"/>
              </a:ext>
            </a:extLst>
          </p:cNvPr>
          <p:cNvSpPr>
            <a:spLocks noGrp="1"/>
          </p:cNvSpPr>
          <p:nvPr/>
        </p:nvSpPr>
        <p:spPr>
          <a:xfrm>
            <a:off x="1819275" y="1952625"/>
            <a:ext cx="990600" cy="990600"/>
          </a:xfrm>
          <a:prstGeom prst="ellipse">
            <a:avLst/>
          </a:prstGeom>
          <a:solidFill>
            <a:srgbClr val="2F80E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F92CDA-E494-4AB0-87AE-24BF959441C7}"/>
              </a:ext>
            </a:extLst>
          </p:cNvPr>
          <p:cNvSpPr>
            <a:spLocks noGrp="1"/>
          </p:cNvSpPr>
          <p:nvPr/>
        </p:nvSpPr>
        <p:spPr>
          <a:xfrm>
            <a:off x="1819275" y="2143125"/>
            <a:ext cx="9906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5A5B9A-E0DF-417C-9069-ED5F17A684D4}"/>
              </a:ext>
            </a:extLst>
          </p:cNvPr>
          <p:cNvSpPr>
            <a:spLocks noGrp="1"/>
          </p:cNvSpPr>
          <p:nvPr/>
        </p:nvSpPr>
        <p:spPr>
          <a:xfrm>
            <a:off x="904875" y="3286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看周围的星星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53F8D4-0634-42C3-BF41-A9D113E0E540}"/>
              </a:ext>
            </a:extLst>
          </p:cNvPr>
          <p:cNvSpPr>
            <a:spLocks noGrp="1"/>
          </p:cNvSpPr>
          <p:nvPr/>
        </p:nvSpPr>
        <p:spPr>
          <a:xfrm>
            <a:off x="1019175" y="3810000"/>
            <a:ext cx="26289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星星绕着一个看不见的东西转，说明那里可能有黑洞。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0E04B32-A375-4001-8A16-BF72025173ED}"/>
              </a:ext>
            </a:extLst>
          </p:cNvPr>
          <p:cNvSpPr>
            <a:spLocks noGrp="1"/>
          </p:cNvSpPr>
          <p:nvPr/>
        </p:nvSpPr>
        <p:spPr>
          <a:xfrm>
            <a:off x="5343525" y="1952625"/>
            <a:ext cx="990600" cy="990600"/>
          </a:xfrm>
          <a:prstGeom prst="ellipse">
            <a:avLst/>
          </a:prstGeom>
          <a:solidFill>
            <a:srgbClr val="6750D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63D473-234E-4D19-A442-4ECBA8ED22A8}"/>
              </a:ext>
            </a:extLst>
          </p:cNvPr>
          <p:cNvSpPr>
            <a:spLocks noGrp="1"/>
          </p:cNvSpPr>
          <p:nvPr/>
        </p:nvSpPr>
        <p:spPr>
          <a:xfrm>
            <a:off x="5343525" y="2143125"/>
            <a:ext cx="9906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D04C65-377D-4BF0-BB5E-7AF7A7E75701}"/>
              </a:ext>
            </a:extLst>
          </p:cNvPr>
          <p:cNvSpPr>
            <a:spLocks noGrp="1"/>
          </p:cNvSpPr>
          <p:nvPr/>
        </p:nvSpPr>
        <p:spPr>
          <a:xfrm>
            <a:off x="4429125" y="3286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看高能光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1AEE8F-6F44-41FC-B163-2ABCFC72E38F}"/>
              </a:ext>
            </a:extLst>
          </p:cNvPr>
          <p:cNvSpPr>
            <a:spLocks noGrp="1"/>
          </p:cNvSpPr>
          <p:nvPr/>
        </p:nvSpPr>
        <p:spPr>
          <a:xfrm>
            <a:off x="4543425" y="3810000"/>
            <a:ext cx="26289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吸积盘特别热，会发出 X 射线等高能光。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BD1A59B-B081-4748-BBAD-B72AF8601179}"/>
              </a:ext>
            </a:extLst>
          </p:cNvPr>
          <p:cNvSpPr>
            <a:spLocks noGrp="1"/>
          </p:cNvSpPr>
          <p:nvPr/>
        </p:nvSpPr>
        <p:spPr>
          <a:xfrm>
            <a:off x="8867775" y="1952625"/>
            <a:ext cx="990600" cy="990600"/>
          </a:xfrm>
          <a:prstGeom prst="ellipse">
            <a:avLst/>
          </a:prstGeom>
          <a:solidFill>
            <a:srgbClr val="E66F3D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A85E63-DB23-4072-B7C4-9AE8E490EEEB}"/>
              </a:ext>
            </a:extLst>
          </p:cNvPr>
          <p:cNvSpPr>
            <a:spLocks noGrp="1"/>
          </p:cNvSpPr>
          <p:nvPr/>
        </p:nvSpPr>
        <p:spPr>
          <a:xfrm>
            <a:off x="8867775" y="2143125"/>
            <a:ext cx="9906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03A0D3-6EE6-45FD-9735-F209BD41C44E}"/>
              </a:ext>
            </a:extLst>
          </p:cNvPr>
          <p:cNvSpPr>
            <a:spLocks noGrp="1"/>
          </p:cNvSpPr>
          <p:nvPr/>
        </p:nvSpPr>
        <p:spPr>
          <a:xfrm>
            <a:off x="7953375" y="32861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听时空的震动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A12656-9CAF-4177-9077-76F67E05ABCC}"/>
              </a:ext>
            </a:extLst>
          </p:cNvPr>
          <p:cNvSpPr>
            <a:spLocks noGrp="1"/>
          </p:cNvSpPr>
          <p:nvPr/>
        </p:nvSpPr>
        <p:spPr>
          <a:xfrm>
            <a:off x="8067675" y="3810000"/>
            <a:ext cx="262890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49617E"/>
                </a:solidFill>
                <a:latin typeface="PingFang SC"/>
                <a:ea typeface="PingFang SC"/>
                <a:cs typeface="PingFang SC"/>
              </a:rPr>
              <a:t>两个黑洞合并时，会产生引力波。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4901A081-5E7D-47BF-8F5F-5DEE422ED9C2}"/>
              </a:ext>
            </a:extLst>
          </p:cNvPr>
          <p:cNvSpPr>
            <a:spLocks noGrp="1"/>
          </p:cNvSpPr>
          <p:nvPr/>
        </p:nvSpPr>
        <p:spPr>
          <a:xfrm>
            <a:off x="1285875" y="5381625"/>
            <a:ext cx="9620250" cy="552450"/>
          </a:xfrm>
          <a:prstGeom prst="roundRect">
            <a:avLst>
              <a:gd name="adj" fmla="val 20690"/>
            </a:avLst>
          </a:prstGeom>
          <a:solidFill>
            <a:srgbClr val="E8F4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94ACE3-86C9-4ECB-BC8E-524B0576BE44}"/>
              </a:ext>
            </a:extLst>
          </p:cNvPr>
          <p:cNvSpPr>
            <a:spLocks noGrp="1"/>
          </p:cNvSpPr>
          <p:nvPr/>
        </p:nvSpPr>
        <p:spPr>
          <a:xfrm>
            <a:off x="1714500" y="5476875"/>
            <a:ext cx="87630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2"/>
          </a:bodyPr>
          <a:lstStyle/>
          <a:p>
            <a:pPr>
              <a:buNone/>
              <a:def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D3A"/>
                </a:solidFill>
                <a:latin typeface="PingFang SC"/>
                <a:ea typeface="PingFang SC"/>
                <a:cs typeface="PingFang SC"/>
              </a:rPr>
              <a:t>科学家像侦探一样，通过黑洞留下的“线索”来发现它。</a:t>
            </a:r>
          </a:p>
        </p:txBody>
      </p:sp>
    </p:spTree>
    <p:extLst>
      <p:ext uri="{BB962C8B-B14F-4D97-AF65-F5344CB8AC3E}">
        <p14:creationId xmlns:p14="http://schemas.microsoft.com/office/powerpoint/2010/main" val="1369690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1651EB78-93F6-4639-81B8-A5E9D46793C1}"/>
              </a:ext>
            </a:extLst>
          </p:cNvPr>
          <p:cNvSpPr>
            <a:spLocks noGrp="1"/>
          </p:cNvSpPr>
          <p:nvPr/>
        </p:nvSpPr>
        <p:spPr>
          <a:xfrm>
            <a:off x="762000" y="857250"/>
            <a:ext cx="66675" cy="6667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E8A4347-EA06-47D5-9F9C-710B301A023C}"/>
              </a:ext>
            </a:extLst>
          </p:cNvPr>
          <p:cNvSpPr>
            <a:spLocks noGrp="1"/>
          </p:cNvSpPr>
          <p:nvPr/>
        </p:nvSpPr>
        <p:spPr>
          <a:xfrm>
            <a:off x="1714500" y="2190750"/>
            <a:ext cx="38100" cy="381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B59E833-9336-47F1-938C-43C0E1280E5C}"/>
              </a:ext>
            </a:extLst>
          </p:cNvPr>
          <p:cNvSpPr>
            <a:spLocks noGrp="1"/>
          </p:cNvSpPr>
          <p:nvPr/>
        </p:nvSpPr>
        <p:spPr>
          <a:xfrm>
            <a:off x="3476625" y="1143000"/>
            <a:ext cx="47625" cy="47625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C5DAD86-C517-4B68-939B-6B13A1718652}"/>
              </a:ext>
            </a:extLst>
          </p:cNvPr>
          <p:cNvSpPr>
            <a:spLocks noGrp="1"/>
          </p:cNvSpPr>
          <p:nvPr/>
        </p:nvSpPr>
        <p:spPr>
          <a:xfrm>
            <a:off x="10287000" y="904875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5B17C40-E5E3-4158-9738-1AF186A335A9}"/>
              </a:ext>
            </a:extLst>
          </p:cNvPr>
          <p:cNvSpPr>
            <a:spLocks noGrp="1"/>
          </p:cNvSpPr>
          <p:nvPr/>
        </p:nvSpPr>
        <p:spPr>
          <a:xfrm>
            <a:off x="11144250" y="2857500"/>
            <a:ext cx="38100" cy="381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4250C5CE-14C1-43FB-B60A-227E82E0A594}"/>
              </a:ext>
            </a:extLst>
          </p:cNvPr>
          <p:cNvSpPr>
            <a:spLocks noGrp="1"/>
          </p:cNvSpPr>
          <p:nvPr/>
        </p:nvSpPr>
        <p:spPr>
          <a:xfrm>
            <a:off x="9048750" y="5619750"/>
            <a:ext cx="57150" cy="571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AE30FD3-C42F-4820-AD3D-FDC29EAF645B}"/>
              </a:ext>
            </a:extLst>
          </p:cNvPr>
          <p:cNvSpPr>
            <a:spLocks noGrp="1"/>
          </p:cNvSpPr>
          <p:nvPr/>
        </p:nvSpPr>
        <p:spPr>
          <a:xfrm>
            <a:off x="2095500" y="5810250"/>
            <a:ext cx="38100" cy="381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BBD452-3AEB-42C7-B2E1-2EEF07B161F9}"/>
              </a:ext>
            </a:extLst>
          </p:cNvPr>
          <p:cNvSpPr>
            <a:spLocks noGrp="1"/>
          </p:cNvSpPr>
          <p:nvPr/>
        </p:nvSpPr>
        <p:spPr>
          <a:xfrm>
            <a:off x="1333500" y="1123950"/>
            <a:ext cx="3810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52D6FF"/>
                </a:solidFill>
                <a:latin typeface="PingFang SC"/>
                <a:ea typeface="PingFang SC"/>
                <a:cs typeface="PingFang SC"/>
              </a:rPr>
              <a:t>今天我们知道了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3D610C-24BC-4191-BBCC-374F8B415B54}"/>
              </a:ext>
            </a:extLst>
          </p:cNvPr>
          <p:cNvSpPr>
            <a:spLocks noGrp="1"/>
          </p:cNvSpPr>
          <p:nvPr/>
        </p:nvSpPr>
        <p:spPr>
          <a:xfrm>
            <a:off x="1333500" y="1952625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44" lnSpcReduction="10000"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黑洞是引力极强的天体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512968-0FE9-4BF9-8166-F3A56B20B392}"/>
              </a:ext>
            </a:extLst>
          </p:cNvPr>
          <p:cNvSpPr>
            <a:spLocks noGrp="1"/>
          </p:cNvSpPr>
          <p:nvPr/>
        </p:nvSpPr>
        <p:spPr>
          <a:xfrm>
            <a:off x="1333500" y="2495550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44" lnSpcReduction="10000"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有些来自大恒星的末期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D89102-EB81-44AB-9D85-706085F2A8B0}"/>
              </a:ext>
            </a:extLst>
          </p:cNvPr>
          <p:cNvSpPr>
            <a:spLocks noGrp="1"/>
          </p:cNvSpPr>
          <p:nvPr/>
        </p:nvSpPr>
        <p:spPr>
          <a:xfrm>
            <a:off x="1333500" y="3038475"/>
            <a:ext cx="5905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444" lnSpcReduction="10000"/>
          </a:bodyPr>
          <a:lstStyle/>
          <a:p>
            <a:pPr>
              <a:buNone/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科学家能用线索发现它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3814867-A4CB-473A-A641-B1A13602AC99}"/>
              </a:ext>
            </a:extLst>
          </p:cNvPr>
          <p:cNvSpPr>
            <a:spLocks noGrp="1"/>
          </p:cNvSpPr>
          <p:nvPr/>
        </p:nvSpPr>
        <p:spPr>
          <a:xfrm>
            <a:off x="8524875" y="2143125"/>
            <a:ext cx="2286000" cy="2286000"/>
          </a:xfrm>
          <a:prstGeom prst="ellipse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4B6EC98-D326-4654-8956-30E770C78093}"/>
              </a:ext>
            </a:extLst>
          </p:cNvPr>
          <p:cNvSpPr>
            <a:spLocks noGrp="1"/>
          </p:cNvSpPr>
          <p:nvPr/>
        </p:nvSpPr>
        <p:spPr>
          <a:xfrm rot="-900000">
            <a:off x="7572375" y="2686050"/>
            <a:ext cx="4191000" cy="1238250"/>
          </a:xfrm>
          <a:prstGeom prst="ellipse">
            <a:avLst/>
          </a:prstGeom>
          <a:noFill/>
          <a:ln w="123825">
            <a:solidFill>
              <a:srgbClr val="FFC85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B1A7B8-BFDB-49AD-A5D6-677E203A304B}"/>
              </a:ext>
            </a:extLst>
          </p:cNvPr>
          <p:cNvSpPr>
            <a:spLocks noGrp="1"/>
          </p:cNvSpPr>
          <p:nvPr/>
        </p:nvSpPr>
        <p:spPr>
          <a:xfrm>
            <a:off x="1333500" y="5000625"/>
            <a:ext cx="78105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>
              <a:buNone/>
              <a:def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C857"/>
                </a:solidFill>
                <a:latin typeface="PingFang SC"/>
                <a:ea typeface="PingFang SC"/>
                <a:cs typeface="PingFang SC"/>
              </a:rPr>
              <a:t>宇宙还有很多问题，等我们去发现！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4A06A62-07F0-47FE-B16F-D5719F745B40}"/>
              </a:ext>
            </a:extLst>
          </p:cNvPr>
          <p:cNvSpPr>
            <a:spLocks noGrp="1"/>
          </p:cNvSpPr>
          <p:nvPr/>
        </p:nvSpPr>
        <p:spPr>
          <a:xfrm>
            <a:off x="1333500" y="575310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>
              <a:buNone/>
              <a:def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D8E9FF"/>
                </a:solidFill>
                <a:latin typeface="PingFang SC"/>
                <a:ea typeface="PingFang SC"/>
                <a:cs typeface="PingFang SC"/>
              </a:rPr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1062541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651</Words>
  <Application>Microsoft Macintosh PowerPoint</Application>
  <DocSecurity>0</DocSecurity>
  <PresentationFormat>宽屏</PresentationFormat>
  <Paragraphs>112</Paragraphs>
  <Slides>11</Slides>
  <Notes>11</Notes>
  <HiddenSlides>0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PingFang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i13703</cp:lastModifiedBy>
  <cp:revision>3</cp:revision>
  <dcterms:created xsi:type="dcterms:W3CDTF">2026-09-19T10:31:41Z</dcterms:created>
  <dcterms:modified xsi:type="dcterms:W3CDTF">2026-09-19T10:48:02Z</dcterms:modified>
</cp:coreProperties>
</file>